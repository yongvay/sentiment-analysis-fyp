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63" r:id="rId7"/>
    <p:sldId id="378" r:id="rId8"/>
    <p:sldId id="366" r:id="rId9"/>
    <p:sldId id="367" r:id="rId10"/>
    <p:sldId id="399" r:id="rId11"/>
    <p:sldId id="368" r:id="rId12"/>
    <p:sldId id="409" r:id="rId13"/>
    <p:sldId id="400" r:id="rId14"/>
    <p:sldId id="374" r:id="rId15"/>
    <p:sldId id="309" r:id="rId16"/>
    <p:sldId id="371" r:id="rId17"/>
    <p:sldId id="402" r:id="rId18"/>
    <p:sldId id="403" r:id="rId19"/>
    <p:sldId id="311" r:id="rId20"/>
    <p:sldId id="376" r:id="rId21"/>
    <p:sldId id="405" r:id="rId22"/>
    <p:sldId id="377" r:id="rId23"/>
    <p:sldId id="384" r:id="rId24"/>
    <p:sldId id="406" r:id="rId25"/>
    <p:sldId id="312" r:id="rId26"/>
    <p:sldId id="386" r:id="rId27"/>
    <p:sldId id="410" r:id="rId28"/>
    <p:sldId id="411" r:id="rId29"/>
    <p:sldId id="407" r:id="rId30"/>
    <p:sldId id="412" r:id="rId31"/>
    <p:sldId id="408" r:id="rId32"/>
    <p:sldId id="413" r:id="rId33"/>
    <p:sldId id="313" r:id="rId34"/>
    <p:sldId id="393" r:id="rId35"/>
    <p:sldId id="398" r:id="rId36"/>
    <p:sldId id="39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E00"/>
    <a:srgbClr val="0A80AB"/>
    <a:srgbClr val="2D5CB2"/>
    <a:srgbClr val="15449C"/>
    <a:srgbClr val="368E02"/>
    <a:srgbClr val="B18C17"/>
    <a:srgbClr val="8ED2E8"/>
    <a:srgbClr val="AAAAAA"/>
    <a:srgbClr val="F57F32"/>
    <a:srgbClr val="4775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2" autoAdjust="0"/>
    <p:restoredTop sz="93969" autoAdjust="0"/>
  </p:normalViewPr>
  <p:slideViewPr>
    <p:cSldViewPr snapToGrid="0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855B1D-A49B-45EE-A393-213793814D65}" type="doc">
      <dgm:prSet loTypeId="urn:microsoft.com/office/officeart/2011/layout/CircleProcess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MY"/>
        </a:p>
      </dgm:t>
    </dgm:pt>
    <dgm:pt modelId="{6D59A3D3-39DD-47D6-BD19-15D04CD19E18}">
      <dgm:prSet phldrT="[Text]" phldr="0" custT="1"/>
      <dgm:spPr/>
      <dgm:t>
        <a:bodyPr/>
        <a:lstStyle/>
        <a:p>
          <a:r>
            <a:rPr lang="en-MY" sz="11500" b="1" dirty="0">
              <a:latin typeface="Aptos Black" panose="020B0004020202020204" pitchFamily="34" charset="0"/>
            </a:rPr>
            <a:t>1</a:t>
          </a:r>
        </a:p>
      </dgm:t>
    </dgm:pt>
    <dgm:pt modelId="{AB43ADFC-4BC1-4372-B0B0-EBB008F83C93}" type="parTrans" cxnId="{D44CD203-82E9-4972-8B18-3ACE3DD8B1EA}">
      <dgm:prSet/>
      <dgm:spPr/>
      <dgm:t>
        <a:bodyPr/>
        <a:lstStyle/>
        <a:p>
          <a:endParaRPr lang="en-MY" b="1"/>
        </a:p>
      </dgm:t>
    </dgm:pt>
    <dgm:pt modelId="{EB1D528D-1C4A-4655-A30B-069204D13CB7}" type="sibTrans" cxnId="{D44CD203-82E9-4972-8B18-3ACE3DD8B1EA}">
      <dgm:prSet/>
      <dgm:spPr/>
      <dgm:t>
        <a:bodyPr/>
        <a:lstStyle/>
        <a:p>
          <a:endParaRPr lang="en-MY" b="1"/>
        </a:p>
      </dgm:t>
    </dgm:pt>
    <dgm:pt modelId="{0F4B8667-4C32-451C-8B84-885B6C9FBE90}">
      <dgm:prSet custT="1"/>
      <dgm:spPr/>
      <dgm:t>
        <a:bodyPr/>
        <a:lstStyle/>
        <a:p>
          <a:r>
            <a:rPr lang="en-MY" sz="11500" b="1" dirty="0">
              <a:latin typeface="Aptos Black" panose="020B0004020202020204" pitchFamily="34" charset="0"/>
            </a:rPr>
            <a:t>2</a:t>
          </a:r>
        </a:p>
      </dgm:t>
    </dgm:pt>
    <dgm:pt modelId="{A519A4DE-8775-46A0-9F82-E6EC2F10A8CC}" type="parTrans" cxnId="{7B277222-7920-4561-8E15-9308958C3CE7}">
      <dgm:prSet/>
      <dgm:spPr/>
      <dgm:t>
        <a:bodyPr/>
        <a:lstStyle/>
        <a:p>
          <a:endParaRPr lang="en-MY" b="1"/>
        </a:p>
      </dgm:t>
    </dgm:pt>
    <dgm:pt modelId="{39F3FEA3-67F3-489F-BBCC-0B7D0A037EE1}" type="sibTrans" cxnId="{7B277222-7920-4561-8E15-9308958C3CE7}">
      <dgm:prSet/>
      <dgm:spPr/>
      <dgm:t>
        <a:bodyPr/>
        <a:lstStyle/>
        <a:p>
          <a:endParaRPr lang="en-MY" b="1"/>
        </a:p>
      </dgm:t>
    </dgm:pt>
    <dgm:pt modelId="{1007D8F1-116F-49E0-B747-1AF770C82B1D}">
      <dgm:prSet custT="1"/>
      <dgm:spPr/>
      <dgm:t>
        <a:bodyPr/>
        <a:lstStyle/>
        <a:p>
          <a:r>
            <a:rPr lang="en-MY" sz="11500" b="1" dirty="0">
              <a:latin typeface="Aptos Black" panose="020B0004020202020204" pitchFamily="34" charset="0"/>
            </a:rPr>
            <a:t>3</a:t>
          </a:r>
        </a:p>
      </dgm:t>
    </dgm:pt>
    <dgm:pt modelId="{C4F90268-9B9A-4B34-8185-404374CBC5DE}" type="parTrans" cxnId="{13B1D765-2822-4617-88E8-65472732413C}">
      <dgm:prSet/>
      <dgm:spPr/>
      <dgm:t>
        <a:bodyPr/>
        <a:lstStyle/>
        <a:p>
          <a:endParaRPr lang="en-MY" b="1"/>
        </a:p>
      </dgm:t>
    </dgm:pt>
    <dgm:pt modelId="{D572F3F6-2FA4-420E-A557-610557640E12}" type="sibTrans" cxnId="{13B1D765-2822-4617-88E8-65472732413C}">
      <dgm:prSet/>
      <dgm:spPr/>
      <dgm:t>
        <a:bodyPr/>
        <a:lstStyle/>
        <a:p>
          <a:endParaRPr lang="en-MY" b="1"/>
        </a:p>
      </dgm:t>
    </dgm:pt>
    <dgm:pt modelId="{39981D12-DDA4-41EE-85ED-4C1A4D7128CE}" type="pres">
      <dgm:prSet presAssocID="{2B855B1D-A49B-45EE-A393-213793814D6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F615FAC7-B458-4713-968A-C658A4BFBE11}" type="pres">
      <dgm:prSet presAssocID="{1007D8F1-116F-49E0-B747-1AF770C82B1D}" presName="Accent3" presStyleCnt="0"/>
      <dgm:spPr/>
    </dgm:pt>
    <dgm:pt modelId="{68391EE0-7E3D-4077-A8FA-191129442F35}" type="pres">
      <dgm:prSet presAssocID="{1007D8F1-116F-49E0-B747-1AF770C82B1D}" presName="Accent" presStyleLbl="node1" presStyleIdx="0" presStyleCnt="3"/>
      <dgm:spPr/>
    </dgm:pt>
    <dgm:pt modelId="{581CFB47-A791-4ED0-A0FD-687CBF1673B1}" type="pres">
      <dgm:prSet presAssocID="{1007D8F1-116F-49E0-B747-1AF770C82B1D}" presName="ParentBackground3" presStyleCnt="0"/>
      <dgm:spPr/>
    </dgm:pt>
    <dgm:pt modelId="{CC960637-0D71-409D-88A0-39F810D3093F}" type="pres">
      <dgm:prSet presAssocID="{1007D8F1-116F-49E0-B747-1AF770C82B1D}" presName="ParentBackground" presStyleLbl="fgAcc1" presStyleIdx="0" presStyleCnt="3"/>
      <dgm:spPr/>
    </dgm:pt>
    <dgm:pt modelId="{4A3ABA18-9594-4BD8-A404-CFFB7B72CBB2}" type="pres">
      <dgm:prSet presAssocID="{1007D8F1-116F-49E0-B747-1AF770C82B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1412497-B765-48FD-ACBD-BF8A1ADB4189}" type="pres">
      <dgm:prSet presAssocID="{0F4B8667-4C32-451C-8B84-885B6C9FBE90}" presName="Accent2" presStyleCnt="0"/>
      <dgm:spPr/>
    </dgm:pt>
    <dgm:pt modelId="{7D5E0182-6066-4BB2-ABBD-11FA625C8B0D}" type="pres">
      <dgm:prSet presAssocID="{0F4B8667-4C32-451C-8B84-885B6C9FBE90}" presName="Accent" presStyleLbl="node1" presStyleIdx="1" presStyleCnt="3"/>
      <dgm:spPr/>
    </dgm:pt>
    <dgm:pt modelId="{49CE051B-E1CE-40C2-822A-09B76FAB3C6F}" type="pres">
      <dgm:prSet presAssocID="{0F4B8667-4C32-451C-8B84-885B6C9FBE90}" presName="ParentBackground2" presStyleCnt="0"/>
      <dgm:spPr/>
    </dgm:pt>
    <dgm:pt modelId="{6D77846D-08B1-4A65-82EF-1D27AEB76295}" type="pres">
      <dgm:prSet presAssocID="{0F4B8667-4C32-451C-8B84-885B6C9FBE90}" presName="ParentBackground" presStyleLbl="fgAcc1" presStyleIdx="1" presStyleCnt="3"/>
      <dgm:spPr/>
    </dgm:pt>
    <dgm:pt modelId="{219F7EB1-C2E2-4EC9-B307-182A52B4F42B}" type="pres">
      <dgm:prSet presAssocID="{0F4B8667-4C32-451C-8B84-885B6C9FBE9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385D9D3-597C-4D38-8EFB-ECF926AA320F}" type="pres">
      <dgm:prSet presAssocID="{6D59A3D3-39DD-47D6-BD19-15D04CD19E18}" presName="Accent1" presStyleCnt="0"/>
      <dgm:spPr/>
    </dgm:pt>
    <dgm:pt modelId="{201733B2-56ED-4248-B6D8-3B9B8B469463}" type="pres">
      <dgm:prSet presAssocID="{6D59A3D3-39DD-47D6-BD19-15D04CD19E18}" presName="Accent" presStyleLbl="node1" presStyleIdx="2" presStyleCnt="3"/>
      <dgm:spPr/>
    </dgm:pt>
    <dgm:pt modelId="{54343AA8-9DEE-4703-A51E-90B64579DC54}" type="pres">
      <dgm:prSet presAssocID="{6D59A3D3-39DD-47D6-BD19-15D04CD19E18}" presName="ParentBackground1" presStyleCnt="0"/>
      <dgm:spPr/>
    </dgm:pt>
    <dgm:pt modelId="{07359BF2-5E82-40ED-A25D-5ED75F8818EE}" type="pres">
      <dgm:prSet presAssocID="{6D59A3D3-39DD-47D6-BD19-15D04CD19E18}" presName="ParentBackground" presStyleLbl="fgAcc1" presStyleIdx="2" presStyleCnt="3"/>
      <dgm:spPr/>
    </dgm:pt>
    <dgm:pt modelId="{766352B3-1FC2-402F-9619-5082AFCC1D4B}" type="pres">
      <dgm:prSet presAssocID="{6D59A3D3-39DD-47D6-BD19-15D04CD19E1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44CD203-82E9-4972-8B18-3ACE3DD8B1EA}" srcId="{2B855B1D-A49B-45EE-A393-213793814D65}" destId="{6D59A3D3-39DD-47D6-BD19-15D04CD19E18}" srcOrd="0" destOrd="0" parTransId="{AB43ADFC-4BC1-4372-B0B0-EBB008F83C93}" sibTransId="{EB1D528D-1C4A-4655-A30B-069204D13CB7}"/>
    <dgm:cxn modelId="{7B277222-7920-4561-8E15-9308958C3CE7}" srcId="{2B855B1D-A49B-45EE-A393-213793814D65}" destId="{0F4B8667-4C32-451C-8B84-885B6C9FBE90}" srcOrd="1" destOrd="0" parTransId="{A519A4DE-8775-46A0-9F82-E6EC2F10A8CC}" sibTransId="{39F3FEA3-67F3-489F-BBCC-0B7D0A037EE1}"/>
    <dgm:cxn modelId="{40C53D28-3491-4886-BEF2-0FD0EAD5BBBE}" type="presOf" srcId="{6D59A3D3-39DD-47D6-BD19-15D04CD19E18}" destId="{766352B3-1FC2-402F-9619-5082AFCC1D4B}" srcOrd="1" destOrd="0" presId="urn:microsoft.com/office/officeart/2011/layout/CircleProcess"/>
    <dgm:cxn modelId="{3A664D30-9411-4E1A-8188-F600FC5D6320}" type="presOf" srcId="{6D59A3D3-39DD-47D6-BD19-15D04CD19E18}" destId="{07359BF2-5E82-40ED-A25D-5ED75F8818EE}" srcOrd="0" destOrd="0" presId="urn:microsoft.com/office/officeart/2011/layout/CircleProcess"/>
    <dgm:cxn modelId="{3F3DC733-E640-46BC-B7A1-695DBA7AE63F}" type="presOf" srcId="{0F4B8667-4C32-451C-8B84-885B6C9FBE90}" destId="{219F7EB1-C2E2-4EC9-B307-182A52B4F42B}" srcOrd="1" destOrd="0" presId="urn:microsoft.com/office/officeart/2011/layout/CircleProcess"/>
    <dgm:cxn modelId="{13B1D765-2822-4617-88E8-65472732413C}" srcId="{2B855B1D-A49B-45EE-A393-213793814D65}" destId="{1007D8F1-116F-49E0-B747-1AF770C82B1D}" srcOrd="2" destOrd="0" parTransId="{C4F90268-9B9A-4B34-8185-404374CBC5DE}" sibTransId="{D572F3F6-2FA4-420E-A557-610557640E12}"/>
    <dgm:cxn modelId="{40446C6C-CCE3-4E6E-9B68-A85C54299A6C}" type="presOf" srcId="{0F4B8667-4C32-451C-8B84-885B6C9FBE90}" destId="{6D77846D-08B1-4A65-82EF-1D27AEB76295}" srcOrd="0" destOrd="0" presId="urn:microsoft.com/office/officeart/2011/layout/CircleProcess"/>
    <dgm:cxn modelId="{A3FF0594-6A76-4199-9F9B-A84EE940D113}" type="presOf" srcId="{1007D8F1-116F-49E0-B747-1AF770C82B1D}" destId="{4A3ABA18-9594-4BD8-A404-CFFB7B72CBB2}" srcOrd="1" destOrd="0" presId="urn:microsoft.com/office/officeart/2011/layout/CircleProcess"/>
    <dgm:cxn modelId="{F5206796-28E0-437C-9C58-292AE21CCE44}" type="presOf" srcId="{1007D8F1-116F-49E0-B747-1AF770C82B1D}" destId="{CC960637-0D71-409D-88A0-39F810D3093F}" srcOrd="0" destOrd="0" presId="urn:microsoft.com/office/officeart/2011/layout/CircleProcess"/>
    <dgm:cxn modelId="{98C947DB-AA75-4A90-A6CC-6E26A475110E}" type="presOf" srcId="{2B855B1D-A49B-45EE-A393-213793814D65}" destId="{39981D12-DDA4-41EE-85ED-4C1A4D7128CE}" srcOrd="0" destOrd="0" presId="urn:microsoft.com/office/officeart/2011/layout/CircleProcess"/>
    <dgm:cxn modelId="{328138BB-442C-4F8D-B96C-D10001A7DB1D}" type="presParOf" srcId="{39981D12-DDA4-41EE-85ED-4C1A4D7128CE}" destId="{F615FAC7-B458-4713-968A-C658A4BFBE11}" srcOrd="0" destOrd="0" presId="urn:microsoft.com/office/officeart/2011/layout/CircleProcess"/>
    <dgm:cxn modelId="{C1AF1256-9847-4033-BC5E-DBE3A7249D4F}" type="presParOf" srcId="{F615FAC7-B458-4713-968A-C658A4BFBE11}" destId="{68391EE0-7E3D-4077-A8FA-191129442F35}" srcOrd="0" destOrd="0" presId="urn:microsoft.com/office/officeart/2011/layout/CircleProcess"/>
    <dgm:cxn modelId="{5EB84D05-9949-44A1-AA32-6289DC625CCB}" type="presParOf" srcId="{39981D12-DDA4-41EE-85ED-4C1A4D7128CE}" destId="{581CFB47-A791-4ED0-A0FD-687CBF1673B1}" srcOrd="1" destOrd="0" presId="urn:microsoft.com/office/officeart/2011/layout/CircleProcess"/>
    <dgm:cxn modelId="{35DC1D28-B403-4C7D-A034-52D22B7BBBB6}" type="presParOf" srcId="{581CFB47-A791-4ED0-A0FD-687CBF1673B1}" destId="{CC960637-0D71-409D-88A0-39F810D3093F}" srcOrd="0" destOrd="0" presId="urn:microsoft.com/office/officeart/2011/layout/CircleProcess"/>
    <dgm:cxn modelId="{2CB91539-FC64-4D98-9336-68771698BA73}" type="presParOf" srcId="{39981D12-DDA4-41EE-85ED-4C1A4D7128CE}" destId="{4A3ABA18-9594-4BD8-A404-CFFB7B72CBB2}" srcOrd="2" destOrd="0" presId="urn:microsoft.com/office/officeart/2011/layout/CircleProcess"/>
    <dgm:cxn modelId="{8F55E0E4-AA6D-49CA-A315-134A50B5CB49}" type="presParOf" srcId="{39981D12-DDA4-41EE-85ED-4C1A4D7128CE}" destId="{51412497-B765-48FD-ACBD-BF8A1ADB4189}" srcOrd="3" destOrd="0" presId="urn:microsoft.com/office/officeart/2011/layout/CircleProcess"/>
    <dgm:cxn modelId="{5FE34226-D0F1-4BF2-844C-44EC2CD163AD}" type="presParOf" srcId="{51412497-B765-48FD-ACBD-BF8A1ADB4189}" destId="{7D5E0182-6066-4BB2-ABBD-11FA625C8B0D}" srcOrd="0" destOrd="0" presId="urn:microsoft.com/office/officeart/2011/layout/CircleProcess"/>
    <dgm:cxn modelId="{D527E454-C4A0-4171-A105-5C44219256FF}" type="presParOf" srcId="{39981D12-DDA4-41EE-85ED-4C1A4D7128CE}" destId="{49CE051B-E1CE-40C2-822A-09B76FAB3C6F}" srcOrd="4" destOrd="0" presId="urn:microsoft.com/office/officeart/2011/layout/CircleProcess"/>
    <dgm:cxn modelId="{29FFE89A-F856-44B7-9ABC-B2F4D2BF4B0A}" type="presParOf" srcId="{49CE051B-E1CE-40C2-822A-09B76FAB3C6F}" destId="{6D77846D-08B1-4A65-82EF-1D27AEB76295}" srcOrd="0" destOrd="0" presId="urn:microsoft.com/office/officeart/2011/layout/CircleProcess"/>
    <dgm:cxn modelId="{7C497C7F-5A2C-4132-A98B-444D02FCE090}" type="presParOf" srcId="{39981D12-DDA4-41EE-85ED-4C1A4D7128CE}" destId="{219F7EB1-C2E2-4EC9-B307-182A52B4F42B}" srcOrd="5" destOrd="0" presId="urn:microsoft.com/office/officeart/2011/layout/CircleProcess"/>
    <dgm:cxn modelId="{D8D91C81-59C5-48BE-B1A2-34FFDED28641}" type="presParOf" srcId="{39981D12-DDA4-41EE-85ED-4C1A4D7128CE}" destId="{E385D9D3-597C-4D38-8EFB-ECF926AA320F}" srcOrd="6" destOrd="0" presId="urn:microsoft.com/office/officeart/2011/layout/CircleProcess"/>
    <dgm:cxn modelId="{29BABFB3-54BA-49D8-A220-E333CC2613D2}" type="presParOf" srcId="{E385D9D3-597C-4D38-8EFB-ECF926AA320F}" destId="{201733B2-56ED-4248-B6D8-3B9B8B469463}" srcOrd="0" destOrd="0" presId="urn:microsoft.com/office/officeart/2011/layout/CircleProcess"/>
    <dgm:cxn modelId="{49D0BAFC-F3DE-4B1F-896D-6613B66D241F}" type="presParOf" srcId="{39981D12-DDA4-41EE-85ED-4C1A4D7128CE}" destId="{54343AA8-9DEE-4703-A51E-90B64579DC54}" srcOrd="7" destOrd="0" presId="urn:microsoft.com/office/officeart/2011/layout/CircleProcess"/>
    <dgm:cxn modelId="{32D58C6A-5A24-4498-B08C-6F0E13D648DA}" type="presParOf" srcId="{54343AA8-9DEE-4703-A51E-90B64579DC54}" destId="{07359BF2-5E82-40ED-A25D-5ED75F8818EE}" srcOrd="0" destOrd="0" presId="urn:microsoft.com/office/officeart/2011/layout/CircleProcess"/>
    <dgm:cxn modelId="{1D5713C4-CB33-4575-ACD0-434D98EEA7E9}" type="presParOf" srcId="{39981D12-DDA4-41EE-85ED-4C1A4D7128CE}" destId="{766352B3-1FC2-402F-9619-5082AFCC1D4B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855B1D-A49B-45EE-A393-213793814D65}" type="doc">
      <dgm:prSet loTypeId="urn:microsoft.com/office/officeart/2011/layout/CircleProcess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MY"/>
        </a:p>
      </dgm:t>
    </dgm:pt>
    <dgm:pt modelId="{6D59A3D3-39DD-47D6-BD19-15D04CD19E18}">
      <dgm:prSet phldrT="[Text]" phldr="0" custT="1"/>
      <dgm:spPr/>
      <dgm:t>
        <a:bodyPr/>
        <a:lstStyle/>
        <a:p>
          <a:r>
            <a:rPr lang="en-MY" sz="6500" b="1" dirty="0">
              <a:latin typeface="Aptos Black" panose="020B0004020202020204" pitchFamily="34" charset="0"/>
            </a:rPr>
            <a:t>1</a:t>
          </a:r>
        </a:p>
      </dgm:t>
    </dgm:pt>
    <dgm:pt modelId="{AB43ADFC-4BC1-4372-B0B0-EBB008F83C93}" type="parTrans" cxnId="{D44CD203-82E9-4972-8B18-3ACE3DD8B1EA}">
      <dgm:prSet/>
      <dgm:spPr/>
      <dgm:t>
        <a:bodyPr/>
        <a:lstStyle/>
        <a:p>
          <a:endParaRPr lang="en-MY" b="1"/>
        </a:p>
      </dgm:t>
    </dgm:pt>
    <dgm:pt modelId="{EB1D528D-1C4A-4655-A30B-069204D13CB7}" type="sibTrans" cxnId="{D44CD203-82E9-4972-8B18-3ACE3DD8B1EA}">
      <dgm:prSet/>
      <dgm:spPr/>
      <dgm:t>
        <a:bodyPr/>
        <a:lstStyle/>
        <a:p>
          <a:endParaRPr lang="en-MY" b="1"/>
        </a:p>
      </dgm:t>
    </dgm:pt>
    <dgm:pt modelId="{0F4B8667-4C32-451C-8B84-885B6C9FBE90}">
      <dgm:prSet/>
      <dgm:spPr/>
      <dgm:t>
        <a:bodyPr/>
        <a:lstStyle/>
        <a:p>
          <a:r>
            <a:rPr lang="en-MY" b="1" dirty="0">
              <a:latin typeface="Aptos Black" panose="020B0004020202020204" pitchFamily="34" charset="0"/>
            </a:rPr>
            <a:t>2</a:t>
          </a:r>
        </a:p>
      </dgm:t>
    </dgm:pt>
    <dgm:pt modelId="{A519A4DE-8775-46A0-9F82-E6EC2F10A8CC}" type="parTrans" cxnId="{7B277222-7920-4561-8E15-9308958C3CE7}">
      <dgm:prSet/>
      <dgm:spPr/>
      <dgm:t>
        <a:bodyPr/>
        <a:lstStyle/>
        <a:p>
          <a:endParaRPr lang="en-MY" b="1"/>
        </a:p>
      </dgm:t>
    </dgm:pt>
    <dgm:pt modelId="{39F3FEA3-67F3-489F-BBCC-0B7D0A037EE1}" type="sibTrans" cxnId="{7B277222-7920-4561-8E15-9308958C3CE7}">
      <dgm:prSet/>
      <dgm:spPr/>
      <dgm:t>
        <a:bodyPr/>
        <a:lstStyle/>
        <a:p>
          <a:endParaRPr lang="en-MY" b="1"/>
        </a:p>
      </dgm:t>
    </dgm:pt>
    <dgm:pt modelId="{1007D8F1-116F-49E0-B747-1AF770C82B1D}">
      <dgm:prSet/>
      <dgm:spPr/>
      <dgm:t>
        <a:bodyPr/>
        <a:lstStyle/>
        <a:p>
          <a:r>
            <a:rPr lang="en-MY" b="1" dirty="0">
              <a:latin typeface="Aptos Black" panose="020B0004020202020204" pitchFamily="34" charset="0"/>
            </a:rPr>
            <a:t>3</a:t>
          </a:r>
        </a:p>
      </dgm:t>
    </dgm:pt>
    <dgm:pt modelId="{C4F90268-9B9A-4B34-8185-404374CBC5DE}" type="parTrans" cxnId="{13B1D765-2822-4617-88E8-65472732413C}">
      <dgm:prSet/>
      <dgm:spPr/>
      <dgm:t>
        <a:bodyPr/>
        <a:lstStyle/>
        <a:p>
          <a:endParaRPr lang="en-MY" b="1"/>
        </a:p>
      </dgm:t>
    </dgm:pt>
    <dgm:pt modelId="{D572F3F6-2FA4-420E-A557-610557640E12}" type="sibTrans" cxnId="{13B1D765-2822-4617-88E8-65472732413C}">
      <dgm:prSet/>
      <dgm:spPr/>
      <dgm:t>
        <a:bodyPr/>
        <a:lstStyle/>
        <a:p>
          <a:endParaRPr lang="en-MY" b="1"/>
        </a:p>
      </dgm:t>
    </dgm:pt>
    <dgm:pt modelId="{0BE8D8EE-2058-40EB-9121-D6DA259A559B}">
      <dgm:prSet/>
      <dgm:spPr/>
      <dgm:t>
        <a:bodyPr/>
        <a:lstStyle/>
        <a:p>
          <a:r>
            <a:rPr lang="en-MY" b="1" dirty="0">
              <a:latin typeface="Aptos Black" panose="020B0004020202020204" pitchFamily="34" charset="0"/>
            </a:rPr>
            <a:t>4</a:t>
          </a:r>
        </a:p>
      </dgm:t>
    </dgm:pt>
    <dgm:pt modelId="{9D2D0FAD-DE36-4B62-879F-71C171872F8D}" type="parTrans" cxnId="{C2F7BB10-48A8-49D9-81F9-FC825AE9F7B9}">
      <dgm:prSet/>
      <dgm:spPr/>
      <dgm:t>
        <a:bodyPr/>
        <a:lstStyle/>
        <a:p>
          <a:endParaRPr lang="en-MY" b="1"/>
        </a:p>
      </dgm:t>
    </dgm:pt>
    <dgm:pt modelId="{0BF38DCA-748C-45F4-920F-C085E66C3F56}" type="sibTrans" cxnId="{C2F7BB10-48A8-49D9-81F9-FC825AE9F7B9}">
      <dgm:prSet/>
      <dgm:spPr/>
      <dgm:t>
        <a:bodyPr/>
        <a:lstStyle/>
        <a:p>
          <a:endParaRPr lang="en-MY" b="1"/>
        </a:p>
      </dgm:t>
    </dgm:pt>
    <dgm:pt modelId="{8AEB80F2-596B-4671-8643-C3E1C108677D}">
      <dgm:prSet/>
      <dgm:spPr/>
      <dgm:t>
        <a:bodyPr/>
        <a:lstStyle/>
        <a:p>
          <a:r>
            <a:rPr lang="en-MY" b="1" dirty="0">
              <a:latin typeface="Aptos Black" panose="020B0004020202020204" pitchFamily="34" charset="0"/>
            </a:rPr>
            <a:t>5</a:t>
          </a:r>
        </a:p>
      </dgm:t>
    </dgm:pt>
    <dgm:pt modelId="{0E6741B1-CF2D-4D30-85C7-431305F43399}" type="parTrans" cxnId="{5B293706-A29B-4ECE-87DA-DEBC434BF5BB}">
      <dgm:prSet/>
      <dgm:spPr/>
      <dgm:t>
        <a:bodyPr/>
        <a:lstStyle/>
        <a:p>
          <a:endParaRPr lang="en-MY"/>
        </a:p>
      </dgm:t>
    </dgm:pt>
    <dgm:pt modelId="{D5D7E239-5046-490A-810C-7C26047160A6}" type="sibTrans" cxnId="{5B293706-A29B-4ECE-87DA-DEBC434BF5BB}">
      <dgm:prSet/>
      <dgm:spPr/>
      <dgm:t>
        <a:bodyPr/>
        <a:lstStyle/>
        <a:p>
          <a:endParaRPr lang="en-MY"/>
        </a:p>
      </dgm:t>
    </dgm:pt>
    <dgm:pt modelId="{39981D12-DDA4-41EE-85ED-4C1A4D7128CE}" type="pres">
      <dgm:prSet presAssocID="{2B855B1D-A49B-45EE-A393-213793814D65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DAEE22B-9A28-4153-881E-188789B13FB7}" type="pres">
      <dgm:prSet presAssocID="{8AEB80F2-596B-4671-8643-C3E1C108677D}" presName="Accent5" presStyleCnt="0"/>
      <dgm:spPr/>
    </dgm:pt>
    <dgm:pt modelId="{FA7EA7C9-E4EC-41DC-AD21-123383760E76}" type="pres">
      <dgm:prSet presAssocID="{8AEB80F2-596B-4671-8643-C3E1C108677D}" presName="Accent" presStyleLbl="node1" presStyleIdx="0" presStyleCnt="5"/>
      <dgm:spPr/>
    </dgm:pt>
    <dgm:pt modelId="{EA1A84B2-518C-4CBD-8410-DDA0E9F25330}" type="pres">
      <dgm:prSet presAssocID="{8AEB80F2-596B-4671-8643-C3E1C108677D}" presName="ParentBackground5" presStyleCnt="0"/>
      <dgm:spPr/>
    </dgm:pt>
    <dgm:pt modelId="{327EF29B-6BDF-40C3-993F-E80B387CBF95}" type="pres">
      <dgm:prSet presAssocID="{8AEB80F2-596B-4671-8643-C3E1C108677D}" presName="ParentBackground" presStyleLbl="fgAcc1" presStyleIdx="0" presStyleCnt="5"/>
      <dgm:spPr/>
    </dgm:pt>
    <dgm:pt modelId="{E64F6AF6-AE04-4A3B-9262-EC11C5C08E73}" type="pres">
      <dgm:prSet presAssocID="{8AEB80F2-596B-4671-8643-C3E1C108677D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BB50269-074E-431D-A408-B1338ADA9E8C}" type="pres">
      <dgm:prSet presAssocID="{0BE8D8EE-2058-40EB-9121-D6DA259A559B}" presName="Accent4" presStyleCnt="0"/>
      <dgm:spPr/>
    </dgm:pt>
    <dgm:pt modelId="{D2C6DF84-74CD-4184-AAC9-039758A960B7}" type="pres">
      <dgm:prSet presAssocID="{0BE8D8EE-2058-40EB-9121-D6DA259A559B}" presName="Accent" presStyleLbl="node1" presStyleIdx="1" presStyleCnt="5"/>
      <dgm:spPr/>
    </dgm:pt>
    <dgm:pt modelId="{BF389A48-68AC-4A94-887F-33A736FF4198}" type="pres">
      <dgm:prSet presAssocID="{0BE8D8EE-2058-40EB-9121-D6DA259A559B}" presName="ParentBackground4" presStyleCnt="0"/>
      <dgm:spPr/>
    </dgm:pt>
    <dgm:pt modelId="{4704F368-0497-4455-9170-4B3E81057B7A}" type="pres">
      <dgm:prSet presAssocID="{0BE8D8EE-2058-40EB-9121-D6DA259A559B}" presName="ParentBackground" presStyleLbl="fgAcc1" presStyleIdx="1" presStyleCnt="5"/>
      <dgm:spPr/>
    </dgm:pt>
    <dgm:pt modelId="{1D59D409-C3D1-4E5F-9637-3E10F49D3E13}" type="pres">
      <dgm:prSet presAssocID="{0BE8D8EE-2058-40EB-9121-D6DA259A559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615FAC7-B458-4713-968A-C658A4BFBE11}" type="pres">
      <dgm:prSet presAssocID="{1007D8F1-116F-49E0-B747-1AF770C82B1D}" presName="Accent3" presStyleCnt="0"/>
      <dgm:spPr/>
    </dgm:pt>
    <dgm:pt modelId="{68391EE0-7E3D-4077-A8FA-191129442F35}" type="pres">
      <dgm:prSet presAssocID="{1007D8F1-116F-49E0-B747-1AF770C82B1D}" presName="Accent" presStyleLbl="node1" presStyleIdx="2" presStyleCnt="5"/>
      <dgm:spPr/>
    </dgm:pt>
    <dgm:pt modelId="{581CFB47-A791-4ED0-A0FD-687CBF1673B1}" type="pres">
      <dgm:prSet presAssocID="{1007D8F1-116F-49E0-B747-1AF770C82B1D}" presName="ParentBackground3" presStyleCnt="0"/>
      <dgm:spPr/>
    </dgm:pt>
    <dgm:pt modelId="{CC960637-0D71-409D-88A0-39F810D3093F}" type="pres">
      <dgm:prSet presAssocID="{1007D8F1-116F-49E0-B747-1AF770C82B1D}" presName="ParentBackground" presStyleLbl="fgAcc1" presStyleIdx="2" presStyleCnt="5"/>
      <dgm:spPr/>
    </dgm:pt>
    <dgm:pt modelId="{4A3ABA18-9594-4BD8-A404-CFFB7B72CBB2}" type="pres">
      <dgm:prSet presAssocID="{1007D8F1-116F-49E0-B747-1AF770C82B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1412497-B765-48FD-ACBD-BF8A1ADB4189}" type="pres">
      <dgm:prSet presAssocID="{0F4B8667-4C32-451C-8B84-885B6C9FBE90}" presName="Accent2" presStyleCnt="0"/>
      <dgm:spPr/>
    </dgm:pt>
    <dgm:pt modelId="{7D5E0182-6066-4BB2-ABBD-11FA625C8B0D}" type="pres">
      <dgm:prSet presAssocID="{0F4B8667-4C32-451C-8B84-885B6C9FBE90}" presName="Accent" presStyleLbl="node1" presStyleIdx="3" presStyleCnt="5"/>
      <dgm:spPr/>
    </dgm:pt>
    <dgm:pt modelId="{49CE051B-E1CE-40C2-822A-09B76FAB3C6F}" type="pres">
      <dgm:prSet presAssocID="{0F4B8667-4C32-451C-8B84-885B6C9FBE90}" presName="ParentBackground2" presStyleCnt="0"/>
      <dgm:spPr/>
    </dgm:pt>
    <dgm:pt modelId="{6D77846D-08B1-4A65-82EF-1D27AEB76295}" type="pres">
      <dgm:prSet presAssocID="{0F4B8667-4C32-451C-8B84-885B6C9FBE90}" presName="ParentBackground" presStyleLbl="fgAcc1" presStyleIdx="3" presStyleCnt="5"/>
      <dgm:spPr/>
    </dgm:pt>
    <dgm:pt modelId="{219F7EB1-C2E2-4EC9-B307-182A52B4F42B}" type="pres">
      <dgm:prSet presAssocID="{0F4B8667-4C32-451C-8B84-885B6C9FBE9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385D9D3-597C-4D38-8EFB-ECF926AA320F}" type="pres">
      <dgm:prSet presAssocID="{6D59A3D3-39DD-47D6-BD19-15D04CD19E18}" presName="Accent1" presStyleCnt="0"/>
      <dgm:spPr/>
    </dgm:pt>
    <dgm:pt modelId="{201733B2-56ED-4248-B6D8-3B9B8B469463}" type="pres">
      <dgm:prSet presAssocID="{6D59A3D3-39DD-47D6-BD19-15D04CD19E18}" presName="Accent" presStyleLbl="node1" presStyleIdx="4" presStyleCnt="5"/>
      <dgm:spPr/>
    </dgm:pt>
    <dgm:pt modelId="{54343AA8-9DEE-4703-A51E-90B64579DC54}" type="pres">
      <dgm:prSet presAssocID="{6D59A3D3-39DD-47D6-BD19-15D04CD19E18}" presName="ParentBackground1" presStyleCnt="0"/>
      <dgm:spPr/>
    </dgm:pt>
    <dgm:pt modelId="{07359BF2-5E82-40ED-A25D-5ED75F8818EE}" type="pres">
      <dgm:prSet presAssocID="{6D59A3D3-39DD-47D6-BD19-15D04CD19E18}" presName="ParentBackground" presStyleLbl="fgAcc1" presStyleIdx="4" presStyleCnt="5"/>
      <dgm:spPr/>
    </dgm:pt>
    <dgm:pt modelId="{766352B3-1FC2-402F-9619-5082AFCC1D4B}" type="pres">
      <dgm:prSet presAssocID="{6D59A3D3-39DD-47D6-BD19-15D04CD19E1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44CD203-82E9-4972-8B18-3ACE3DD8B1EA}" srcId="{2B855B1D-A49B-45EE-A393-213793814D65}" destId="{6D59A3D3-39DD-47D6-BD19-15D04CD19E18}" srcOrd="0" destOrd="0" parTransId="{AB43ADFC-4BC1-4372-B0B0-EBB008F83C93}" sibTransId="{EB1D528D-1C4A-4655-A30B-069204D13CB7}"/>
    <dgm:cxn modelId="{5B293706-A29B-4ECE-87DA-DEBC434BF5BB}" srcId="{2B855B1D-A49B-45EE-A393-213793814D65}" destId="{8AEB80F2-596B-4671-8643-C3E1C108677D}" srcOrd="4" destOrd="0" parTransId="{0E6741B1-CF2D-4D30-85C7-431305F43399}" sibTransId="{D5D7E239-5046-490A-810C-7C26047160A6}"/>
    <dgm:cxn modelId="{C2F7BB10-48A8-49D9-81F9-FC825AE9F7B9}" srcId="{2B855B1D-A49B-45EE-A393-213793814D65}" destId="{0BE8D8EE-2058-40EB-9121-D6DA259A559B}" srcOrd="3" destOrd="0" parTransId="{9D2D0FAD-DE36-4B62-879F-71C171872F8D}" sibTransId="{0BF38DCA-748C-45F4-920F-C085E66C3F56}"/>
    <dgm:cxn modelId="{45366515-50BF-4599-B90E-6E450D534AFD}" type="presOf" srcId="{0BE8D8EE-2058-40EB-9121-D6DA259A559B}" destId="{1D59D409-C3D1-4E5F-9637-3E10F49D3E13}" srcOrd="1" destOrd="0" presId="urn:microsoft.com/office/officeart/2011/layout/CircleProcess"/>
    <dgm:cxn modelId="{7B277222-7920-4561-8E15-9308958C3CE7}" srcId="{2B855B1D-A49B-45EE-A393-213793814D65}" destId="{0F4B8667-4C32-451C-8B84-885B6C9FBE90}" srcOrd="1" destOrd="0" parTransId="{A519A4DE-8775-46A0-9F82-E6EC2F10A8CC}" sibTransId="{39F3FEA3-67F3-489F-BBCC-0B7D0A037EE1}"/>
    <dgm:cxn modelId="{40C53D28-3491-4886-BEF2-0FD0EAD5BBBE}" type="presOf" srcId="{6D59A3D3-39DD-47D6-BD19-15D04CD19E18}" destId="{766352B3-1FC2-402F-9619-5082AFCC1D4B}" srcOrd="1" destOrd="0" presId="urn:microsoft.com/office/officeart/2011/layout/CircleProcess"/>
    <dgm:cxn modelId="{3A664D30-9411-4E1A-8188-F600FC5D6320}" type="presOf" srcId="{6D59A3D3-39DD-47D6-BD19-15D04CD19E18}" destId="{07359BF2-5E82-40ED-A25D-5ED75F8818EE}" srcOrd="0" destOrd="0" presId="urn:microsoft.com/office/officeart/2011/layout/CircleProcess"/>
    <dgm:cxn modelId="{3F3DC733-E640-46BC-B7A1-695DBA7AE63F}" type="presOf" srcId="{0F4B8667-4C32-451C-8B84-885B6C9FBE90}" destId="{219F7EB1-C2E2-4EC9-B307-182A52B4F42B}" srcOrd="1" destOrd="0" presId="urn:microsoft.com/office/officeart/2011/layout/CircleProcess"/>
    <dgm:cxn modelId="{13B1D765-2822-4617-88E8-65472732413C}" srcId="{2B855B1D-A49B-45EE-A393-213793814D65}" destId="{1007D8F1-116F-49E0-B747-1AF770C82B1D}" srcOrd="2" destOrd="0" parTransId="{C4F90268-9B9A-4B34-8185-404374CBC5DE}" sibTransId="{D572F3F6-2FA4-420E-A557-610557640E12}"/>
    <dgm:cxn modelId="{40446C6C-CCE3-4E6E-9B68-A85C54299A6C}" type="presOf" srcId="{0F4B8667-4C32-451C-8B84-885B6C9FBE90}" destId="{6D77846D-08B1-4A65-82EF-1D27AEB76295}" srcOrd="0" destOrd="0" presId="urn:microsoft.com/office/officeart/2011/layout/CircleProcess"/>
    <dgm:cxn modelId="{15D2087B-9C0B-4318-B4ED-28C3A3595B13}" type="presOf" srcId="{0BE8D8EE-2058-40EB-9121-D6DA259A559B}" destId="{4704F368-0497-4455-9170-4B3E81057B7A}" srcOrd="0" destOrd="0" presId="urn:microsoft.com/office/officeart/2011/layout/CircleProcess"/>
    <dgm:cxn modelId="{1370C482-5FC4-4328-B26B-113E59F76853}" type="presOf" srcId="{8AEB80F2-596B-4671-8643-C3E1C108677D}" destId="{E64F6AF6-AE04-4A3B-9262-EC11C5C08E73}" srcOrd="1" destOrd="0" presId="urn:microsoft.com/office/officeart/2011/layout/CircleProcess"/>
    <dgm:cxn modelId="{A3FF0594-6A76-4199-9F9B-A84EE940D113}" type="presOf" srcId="{1007D8F1-116F-49E0-B747-1AF770C82B1D}" destId="{4A3ABA18-9594-4BD8-A404-CFFB7B72CBB2}" srcOrd="1" destOrd="0" presId="urn:microsoft.com/office/officeart/2011/layout/CircleProcess"/>
    <dgm:cxn modelId="{F5206796-28E0-437C-9C58-292AE21CCE44}" type="presOf" srcId="{1007D8F1-116F-49E0-B747-1AF770C82B1D}" destId="{CC960637-0D71-409D-88A0-39F810D3093F}" srcOrd="0" destOrd="0" presId="urn:microsoft.com/office/officeart/2011/layout/CircleProcess"/>
    <dgm:cxn modelId="{98C947DB-AA75-4A90-A6CC-6E26A475110E}" type="presOf" srcId="{2B855B1D-A49B-45EE-A393-213793814D65}" destId="{39981D12-DDA4-41EE-85ED-4C1A4D7128CE}" srcOrd="0" destOrd="0" presId="urn:microsoft.com/office/officeart/2011/layout/CircleProcess"/>
    <dgm:cxn modelId="{E41A57FB-8AE5-42CB-840A-F55A207D5528}" type="presOf" srcId="{8AEB80F2-596B-4671-8643-C3E1C108677D}" destId="{327EF29B-6BDF-40C3-993F-E80B387CBF95}" srcOrd="0" destOrd="0" presId="urn:microsoft.com/office/officeart/2011/layout/CircleProcess"/>
    <dgm:cxn modelId="{E8E0C4BB-CB4A-4D36-B820-DE644A2DA486}" type="presParOf" srcId="{39981D12-DDA4-41EE-85ED-4C1A4D7128CE}" destId="{EDAEE22B-9A28-4153-881E-188789B13FB7}" srcOrd="0" destOrd="0" presId="urn:microsoft.com/office/officeart/2011/layout/CircleProcess"/>
    <dgm:cxn modelId="{C41453A0-D269-455E-8F32-122BF0CE730A}" type="presParOf" srcId="{EDAEE22B-9A28-4153-881E-188789B13FB7}" destId="{FA7EA7C9-E4EC-41DC-AD21-123383760E76}" srcOrd="0" destOrd="0" presId="urn:microsoft.com/office/officeart/2011/layout/CircleProcess"/>
    <dgm:cxn modelId="{3DD3FC0D-9AC3-49CC-B917-E85F99C69146}" type="presParOf" srcId="{39981D12-DDA4-41EE-85ED-4C1A4D7128CE}" destId="{EA1A84B2-518C-4CBD-8410-DDA0E9F25330}" srcOrd="1" destOrd="0" presId="urn:microsoft.com/office/officeart/2011/layout/CircleProcess"/>
    <dgm:cxn modelId="{C9B8956C-AD36-4B74-B274-C1778F7147EB}" type="presParOf" srcId="{EA1A84B2-518C-4CBD-8410-DDA0E9F25330}" destId="{327EF29B-6BDF-40C3-993F-E80B387CBF95}" srcOrd="0" destOrd="0" presId="urn:microsoft.com/office/officeart/2011/layout/CircleProcess"/>
    <dgm:cxn modelId="{DDDDC0E3-0659-4BE0-9DC8-A18965F45A90}" type="presParOf" srcId="{39981D12-DDA4-41EE-85ED-4C1A4D7128CE}" destId="{E64F6AF6-AE04-4A3B-9262-EC11C5C08E73}" srcOrd="2" destOrd="0" presId="urn:microsoft.com/office/officeart/2011/layout/CircleProcess"/>
    <dgm:cxn modelId="{B5F7AE49-0B40-4DE5-9415-9AFFC7DB9B7B}" type="presParOf" srcId="{39981D12-DDA4-41EE-85ED-4C1A4D7128CE}" destId="{1BB50269-074E-431D-A408-B1338ADA9E8C}" srcOrd="3" destOrd="0" presId="urn:microsoft.com/office/officeart/2011/layout/CircleProcess"/>
    <dgm:cxn modelId="{8F9BA17D-6F80-4036-BF2B-4E309FD1AB41}" type="presParOf" srcId="{1BB50269-074E-431D-A408-B1338ADA9E8C}" destId="{D2C6DF84-74CD-4184-AAC9-039758A960B7}" srcOrd="0" destOrd="0" presId="urn:microsoft.com/office/officeart/2011/layout/CircleProcess"/>
    <dgm:cxn modelId="{9DDD2C6D-2A82-42C3-AFC3-8F7DBDC56FE5}" type="presParOf" srcId="{39981D12-DDA4-41EE-85ED-4C1A4D7128CE}" destId="{BF389A48-68AC-4A94-887F-33A736FF4198}" srcOrd="4" destOrd="0" presId="urn:microsoft.com/office/officeart/2011/layout/CircleProcess"/>
    <dgm:cxn modelId="{74C33C54-0B6E-4D64-8C25-24354D03FBFB}" type="presParOf" srcId="{BF389A48-68AC-4A94-887F-33A736FF4198}" destId="{4704F368-0497-4455-9170-4B3E81057B7A}" srcOrd="0" destOrd="0" presId="urn:microsoft.com/office/officeart/2011/layout/CircleProcess"/>
    <dgm:cxn modelId="{FE858206-5876-47EF-913C-AF9944242F9B}" type="presParOf" srcId="{39981D12-DDA4-41EE-85ED-4C1A4D7128CE}" destId="{1D59D409-C3D1-4E5F-9637-3E10F49D3E13}" srcOrd="5" destOrd="0" presId="urn:microsoft.com/office/officeart/2011/layout/CircleProcess"/>
    <dgm:cxn modelId="{328138BB-442C-4F8D-B96C-D10001A7DB1D}" type="presParOf" srcId="{39981D12-DDA4-41EE-85ED-4C1A4D7128CE}" destId="{F615FAC7-B458-4713-968A-C658A4BFBE11}" srcOrd="6" destOrd="0" presId="urn:microsoft.com/office/officeart/2011/layout/CircleProcess"/>
    <dgm:cxn modelId="{C1AF1256-9847-4033-BC5E-DBE3A7249D4F}" type="presParOf" srcId="{F615FAC7-B458-4713-968A-C658A4BFBE11}" destId="{68391EE0-7E3D-4077-A8FA-191129442F35}" srcOrd="0" destOrd="0" presId="urn:microsoft.com/office/officeart/2011/layout/CircleProcess"/>
    <dgm:cxn modelId="{5EB84D05-9949-44A1-AA32-6289DC625CCB}" type="presParOf" srcId="{39981D12-DDA4-41EE-85ED-4C1A4D7128CE}" destId="{581CFB47-A791-4ED0-A0FD-687CBF1673B1}" srcOrd="7" destOrd="0" presId="urn:microsoft.com/office/officeart/2011/layout/CircleProcess"/>
    <dgm:cxn modelId="{35DC1D28-B403-4C7D-A034-52D22B7BBBB6}" type="presParOf" srcId="{581CFB47-A791-4ED0-A0FD-687CBF1673B1}" destId="{CC960637-0D71-409D-88A0-39F810D3093F}" srcOrd="0" destOrd="0" presId="urn:microsoft.com/office/officeart/2011/layout/CircleProcess"/>
    <dgm:cxn modelId="{2CB91539-FC64-4D98-9336-68771698BA73}" type="presParOf" srcId="{39981D12-DDA4-41EE-85ED-4C1A4D7128CE}" destId="{4A3ABA18-9594-4BD8-A404-CFFB7B72CBB2}" srcOrd="8" destOrd="0" presId="urn:microsoft.com/office/officeart/2011/layout/CircleProcess"/>
    <dgm:cxn modelId="{8F55E0E4-AA6D-49CA-A315-134A50B5CB49}" type="presParOf" srcId="{39981D12-DDA4-41EE-85ED-4C1A4D7128CE}" destId="{51412497-B765-48FD-ACBD-BF8A1ADB4189}" srcOrd="9" destOrd="0" presId="urn:microsoft.com/office/officeart/2011/layout/CircleProcess"/>
    <dgm:cxn modelId="{5FE34226-D0F1-4BF2-844C-44EC2CD163AD}" type="presParOf" srcId="{51412497-B765-48FD-ACBD-BF8A1ADB4189}" destId="{7D5E0182-6066-4BB2-ABBD-11FA625C8B0D}" srcOrd="0" destOrd="0" presId="urn:microsoft.com/office/officeart/2011/layout/CircleProcess"/>
    <dgm:cxn modelId="{D527E454-C4A0-4171-A105-5C44219256FF}" type="presParOf" srcId="{39981D12-DDA4-41EE-85ED-4C1A4D7128CE}" destId="{49CE051B-E1CE-40C2-822A-09B76FAB3C6F}" srcOrd="10" destOrd="0" presId="urn:microsoft.com/office/officeart/2011/layout/CircleProcess"/>
    <dgm:cxn modelId="{29FFE89A-F856-44B7-9ABC-B2F4D2BF4B0A}" type="presParOf" srcId="{49CE051B-E1CE-40C2-822A-09B76FAB3C6F}" destId="{6D77846D-08B1-4A65-82EF-1D27AEB76295}" srcOrd="0" destOrd="0" presId="urn:microsoft.com/office/officeart/2011/layout/CircleProcess"/>
    <dgm:cxn modelId="{7C497C7F-5A2C-4132-A98B-444D02FCE090}" type="presParOf" srcId="{39981D12-DDA4-41EE-85ED-4C1A4D7128CE}" destId="{219F7EB1-C2E2-4EC9-B307-182A52B4F42B}" srcOrd="11" destOrd="0" presId="urn:microsoft.com/office/officeart/2011/layout/CircleProcess"/>
    <dgm:cxn modelId="{D8D91C81-59C5-48BE-B1A2-34FFDED28641}" type="presParOf" srcId="{39981D12-DDA4-41EE-85ED-4C1A4D7128CE}" destId="{E385D9D3-597C-4D38-8EFB-ECF926AA320F}" srcOrd="12" destOrd="0" presId="urn:microsoft.com/office/officeart/2011/layout/CircleProcess"/>
    <dgm:cxn modelId="{29BABFB3-54BA-49D8-A220-E333CC2613D2}" type="presParOf" srcId="{E385D9D3-597C-4D38-8EFB-ECF926AA320F}" destId="{201733B2-56ED-4248-B6D8-3B9B8B469463}" srcOrd="0" destOrd="0" presId="urn:microsoft.com/office/officeart/2011/layout/CircleProcess"/>
    <dgm:cxn modelId="{49D0BAFC-F3DE-4B1F-896D-6613B66D241F}" type="presParOf" srcId="{39981D12-DDA4-41EE-85ED-4C1A4D7128CE}" destId="{54343AA8-9DEE-4703-A51E-90B64579DC54}" srcOrd="13" destOrd="0" presId="urn:microsoft.com/office/officeart/2011/layout/CircleProcess"/>
    <dgm:cxn modelId="{32D58C6A-5A24-4498-B08C-6F0E13D648DA}" type="presParOf" srcId="{54343AA8-9DEE-4703-A51E-90B64579DC54}" destId="{07359BF2-5E82-40ED-A25D-5ED75F8818EE}" srcOrd="0" destOrd="0" presId="urn:microsoft.com/office/officeart/2011/layout/CircleProcess"/>
    <dgm:cxn modelId="{1D5713C4-CB33-4575-ACD0-434D98EEA7E9}" type="presParOf" srcId="{39981D12-DDA4-41EE-85ED-4C1A4D7128CE}" destId="{766352B3-1FC2-402F-9619-5082AFCC1D4B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91EE0-7E3D-4077-A8FA-191129442F35}">
      <dsp:nvSpPr>
        <dsp:cNvPr id="0" name=""/>
        <dsp:cNvSpPr/>
      </dsp:nvSpPr>
      <dsp:spPr>
        <a:xfrm>
          <a:off x="7604774" y="978178"/>
          <a:ext cx="2559636" cy="2560110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60637-0D71-409D-88A0-39F810D3093F}">
      <dsp:nvSpPr>
        <dsp:cNvPr id="0" name=""/>
        <dsp:cNvSpPr/>
      </dsp:nvSpPr>
      <dsp:spPr>
        <a:xfrm>
          <a:off x="7689762" y="1063530"/>
          <a:ext cx="2389660" cy="238940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0" tIns="146050" rIns="146050" bIns="146050" numCol="1" spcCol="1270" anchor="ctr" anchorCtr="0">
          <a:noAutofit/>
        </a:bodyPr>
        <a:lstStyle/>
        <a:p>
          <a:pPr marL="0" lvl="0" indent="0" algn="ctr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500" b="1" kern="1200" dirty="0">
              <a:latin typeface="Aptos Black" panose="020B0004020202020204" pitchFamily="34" charset="0"/>
            </a:rPr>
            <a:t>3</a:t>
          </a:r>
        </a:p>
      </dsp:txBody>
      <dsp:txXfrm>
        <a:off x="8031380" y="1404938"/>
        <a:ext cx="1706424" cy="1706590"/>
      </dsp:txXfrm>
    </dsp:sp>
    <dsp:sp modelId="{7D5E0182-6066-4BB2-ABBD-11FA625C8B0D}">
      <dsp:nvSpPr>
        <dsp:cNvPr id="0" name=""/>
        <dsp:cNvSpPr/>
      </dsp:nvSpPr>
      <dsp:spPr>
        <a:xfrm rot="2700000">
          <a:off x="4962399" y="981273"/>
          <a:ext cx="2553471" cy="2553471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7846D-08B1-4A65-82EF-1D27AEB76295}">
      <dsp:nvSpPr>
        <dsp:cNvPr id="0" name=""/>
        <dsp:cNvSpPr/>
      </dsp:nvSpPr>
      <dsp:spPr>
        <a:xfrm>
          <a:off x="5044305" y="1063530"/>
          <a:ext cx="2389660" cy="238940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268329"/>
              <a:satOff val="-6535"/>
              <a:lumOff val="285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0" tIns="146050" rIns="146050" bIns="146050" numCol="1" spcCol="1270" anchor="ctr" anchorCtr="0">
          <a:noAutofit/>
        </a:bodyPr>
        <a:lstStyle/>
        <a:p>
          <a:pPr marL="0" lvl="0" indent="0" algn="ctr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500" b="1" kern="1200" dirty="0">
              <a:latin typeface="Aptos Black" panose="020B0004020202020204" pitchFamily="34" charset="0"/>
            </a:rPr>
            <a:t>2</a:t>
          </a:r>
        </a:p>
      </dsp:txBody>
      <dsp:txXfrm>
        <a:off x="5385923" y="1404938"/>
        <a:ext cx="1706424" cy="1706590"/>
      </dsp:txXfrm>
    </dsp:sp>
    <dsp:sp modelId="{201733B2-56ED-4248-B6D8-3B9B8B469463}">
      <dsp:nvSpPr>
        <dsp:cNvPr id="0" name=""/>
        <dsp:cNvSpPr/>
      </dsp:nvSpPr>
      <dsp:spPr>
        <a:xfrm rot="2700000">
          <a:off x="2316942" y="981273"/>
          <a:ext cx="2553471" cy="2553471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59BF2-5E82-40ED-A25D-5ED75F8818EE}">
      <dsp:nvSpPr>
        <dsp:cNvPr id="0" name=""/>
        <dsp:cNvSpPr/>
      </dsp:nvSpPr>
      <dsp:spPr>
        <a:xfrm>
          <a:off x="2398847" y="1063530"/>
          <a:ext cx="2389660" cy="238940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268329"/>
              <a:satOff val="-6535"/>
              <a:lumOff val="285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0" tIns="146050" rIns="146050" bIns="146050" numCol="1" spcCol="1270" anchor="ctr" anchorCtr="0">
          <a:noAutofit/>
        </a:bodyPr>
        <a:lstStyle/>
        <a:p>
          <a:pPr marL="0" lvl="0" indent="0" algn="ctr" defTabSz="5111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500" b="1" kern="1200" dirty="0">
              <a:latin typeface="Aptos Black" panose="020B0004020202020204" pitchFamily="34" charset="0"/>
            </a:rPr>
            <a:t>1</a:t>
          </a:r>
        </a:p>
      </dsp:txBody>
      <dsp:txXfrm>
        <a:off x="2740465" y="1404938"/>
        <a:ext cx="1706424" cy="17065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EA7C9-E4EC-41DC-AD21-123383760E76}">
      <dsp:nvSpPr>
        <dsp:cNvPr id="0" name=""/>
        <dsp:cNvSpPr/>
      </dsp:nvSpPr>
      <dsp:spPr>
        <a:xfrm>
          <a:off x="9019945" y="687778"/>
          <a:ext cx="1821947" cy="1822245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EF29B-6BDF-40C3-993F-E80B387CBF95}">
      <dsp:nvSpPr>
        <dsp:cNvPr id="0" name=""/>
        <dsp:cNvSpPr/>
      </dsp:nvSpPr>
      <dsp:spPr>
        <a:xfrm>
          <a:off x="9080063" y="748530"/>
          <a:ext cx="1700742" cy="17007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b="1" kern="1200" dirty="0">
              <a:latin typeface="Aptos Black" panose="020B0004020202020204" pitchFamily="34" charset="0"/>
            </a:rPr>
            <a:t>5</a:t>
          </a:r>
        </a:p>
      </dsp:txBody>
      <dsp:txXfrm>
        <a:off x="9323441" y="991539"/>
        <a:ext cx="1214954" cy="1214723"/>
      </dsp:txXfrm>
    </dsp:sp>
    <dsp:sp modelId="{D2C6DF84-74CD-4184-AAC9-039758A960B7}">
      <dsp:nvSpPr>
        <dsp:cNvPr id="0" name=""/>
        <dsp:cNvSpPr/>
      </dsp:nvSpPr>
      <dsp:spPr>
        <a:xfrm rot="2700000">
          <a:off x="7136046" y="687873"/>
          <a:ext cx="1821736" cy="1821736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160997"/>
            <a:satOff val="-3921"/>
            <a:lumOff val="17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4F368-0497-4455-9170-4B3E81057B7A}">
      <dsp:nvSpPr>
        <dsp:cNvPr id="0" name=""/>
        <dsp:cNvSpPr/>
      </dsp:nvSpPr>
      <dsp:spPr>
        <a:xfrm>
          <a:off x="7197998" y="748530"/>
          <a:ext cx="1700742" cy="17007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160997"/>
              <a:satOff val="-3921"/>
              <a:lumOff val="171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b="1" kern="1200" dirty="0">
              <a:latin typeface="Aptos Black" panose="020B0004020202020204" pitchFamily="34" charset="0"/>
            </a:rPr>
            <a:t>4</a:t>
          </a:r>
        </a:p>
      </dsp:txBody>
      <dsp:txXfrm>
        <a:off x="7440407" y="991539"/>
        <a:ext cx="1214954" cy="1214723"/>
      </dsp:txXfrm>
    </dsp:sp>
    <dsp:sp modelId="{68391EE0-7E3D-4077-A8FA-191129442F35}">
      <dsp:nvSpPr>
        <dsp:cNvPr id="0" name=""/>
        <dsp:cNvSpPr/>
      </dsp:nvSpPr>
      <dsp:spPr>
        <a:xfrm rot="2700000">
          <a:off x="5253981" y="687873"/>
          <a:ext cx="1821736" cy="1821736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321995"/>
            <a:satOff val="-7842"/>
            <a:lumOff val="343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60637-0D71-409D-88A0-39F810D3093F}">
      <dsp:nvSpPr>
        <dsp:cNvPr id="0" name=""/>
        <dsp:cNvSpPr/>
      </dsp:nvSpPr>
      <dsp:spPr>
        <a:xfrm>
          <a:off x="5314963" y="748530"/>
          <a:ext cx="1700742" cy="17007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321995"/>
              <a:satOff val="-7842"/>
              <a:lumOff val="34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b="1" kern="1200" dirty="0">
              <a:latin typeface="Aptos Black" panose="020B0004020202020204" pitchFamily="34" charset="0"/>
            </a:rPr>
            <a:t>3</a:t>
          </a:r>
        </a:p>
      </dsp:txBody>
      <dsp:txXfrm>
        <a:off x="5557372" y="991539"/>
        <a:ext cx="1214954" cy="1214723"/>
      </dsp:txXfrm>
    </dsp:sp>
    <dsp:sp modelId="{7D5E0182-6066-4BB2-ABBD-11FA625C8B0D}">
      <dsp:nvSpPr>
        <dsp:cNvPr id="0" name=""/>
        <dsp:cNvSpPr/>
      </dsp:nvSpPr>
      <dsp:spPr>
        <a:xfrm rot="2700000">
          <a:off x="3370947" y="687873"/>
          <a:ext cx="1821736" cy="1821736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321995"/>
            <a:satOff val="-7842"/>
            <a:lumOff val="343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7846D-08B1-4A65-82EF-1D27AEB76295}">
      <dsp:nvSpPr>
        <dsp:cNvPr id="0" name=""/>
        <dsp:cNvSpPr/>
      </dsp:nvSpPr>
      <dsp:spPr>
        <a:xfrm>
          <a:off x="3431929" y="748530"/>
          <a:ext cx="1700742" cy="17007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321995"/>
              <a:satOff val="-7842"/>
              <a:lumOff val="34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b="1" kern="1200" dirty="0">
              <a:latin typeface="Aptos Black" panose="020B0004020202020204" pitchFamily="34" charset="0"/>
            </a:rPr>
            <a:t>2</a:t>
          </a:r>
        </a:p>
      </dsp:txBody>
      <dsp:txXfrm>
        <a:off x="3675308" y="991539"/>
        <a:ext cx="1214954" cy="1214723"/>
      </dsp:txXfrm>
    </dsp:sp>
    <dsp:sp modelId="{201733B2-56ED-4248-B6D8-3B9B8B469463}">
      <dsp:nvSpPr>
        <dsp:cNvPr id="0" name=""/>
        <dsp:cNvSpPr/>
      </dsp:nvSpPr>
      <dsp:spPr>
        <a:xfrm rot="2700000">
          <a:off x="1487912" y="687873"/>
          <a:ext cx="1821736" cy="1821736"/>
        </a:xfrm>
        <a:prstGeom prst="teardrop">
          <a:avLst>
            <a:gd name="adj" fmla="val 100000"/>
          </a:avLst>
        </a:prstGeom>
        <a:solidFill>
          <a:schemeClr val="accent1">
            <a:shade val="50000"/>
            <a:hueOff val="160997"/>
            <a:satOff val="-3921"/>
            <a:lumOff val="17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59BF2-5E82-40ED-A25D-5ED75F8818EE}">
      <dsp:nvSpPr>
        <dsp:cNvPr id="0" name=""/>
        <dsp:cNvSpPr/>
      </dsp:nvSpPr>
      <dsp:spPr>
        <a:xfrm>
          <a:off x="1548894" y="748530"/>
          <a:ext cx="1700742" cy="17007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160997"/>
              <a:satOff val="-3921"/>
              <a:lumOff val="171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6500" b="1" kern="1200" dirty="0">
              <a:latin typeface="Aptos Black" panose="020B0004020202020204" pitchFamily="34" charset="0"/>
            </a:rPr>
            <a:t>1</a:t>
          </a:r>
        </a:p>
      </dsp:txBody>
      <dsp:txXfrm>
        <a:off x="1792273" y="991539"/>
        <a:ext cx="1214954" cy="1214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16D7C-3517-4E1E-A2A0-850AC54E92F2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EAFA7-81E4-497E-9FE5-A400002349D1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</a:t>
            </a:fld>
            <a:endParaRPr lang="en-S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EFFC-20B8-D97B-3DBC-F93980BA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ECF36-B909-8264-C0BD-D8D1C81C9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6B15F-74FB-0767-DF74-92187B6D6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9A955-3CC3-F19B-0074-D637F7DE6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5465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34BE-A48A-E5AD-7133-BAAEA872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9687A-906B-18B9-766D-8D6D79D57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DC554-9860-759F-7D3D-B98D3F498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1B526-BCC7-820F-2D4F-95268EC58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479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3018-11CE-6421-6216-0DB79030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81DEC-C9B2-7BBB-88A1-3C8E3FB38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017C9-28D3-CDF4-CD51-492BCE070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EB83-46C3-F404-4F36-214B38415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521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55AB-E068-A06A-ECCC-A09FE267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CFC68-B817-6F1E-4F5C-463F2B716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610FC-FDF0-077C-FCA0-667D220D8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516EC-E269-0DFB-7B16-939E5B751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9267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4B1B-29DD-3B03-EE66-82F31A9B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F72B1-A8B1-D96F-B2D6-73DF9ED91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48206-1517-A355-44EC-7987096F1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2D1C6-479C-5B63-5F8E-8CCC339A4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0627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9774-1F51-DD98-43AC-7BC2E441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9DEB1-CE7C-D6C7-2C65-B6ED2E43D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0227C-20DE-80D8-86F1-00AFCC3BE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A6863-2324-B77B-5E36-E92AEB57B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4292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6881-7A75-5E98-E056-429FE613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08591-BC24-28D5-AA22-22705DDBA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7E4C5-9E39-2D08-1B3E-14B4CDF14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C3A9-3049-F459-263E-608E7A2DC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6947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5428-1DE6-E205-E434-D0CBD419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F81E7-8070-16EF-CCFF-3E8E36F11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172C4-D391-CAC2-904F-6660212CC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43BE-F345-7A03-C792-756CAB83A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4523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9B55-D353-4B92-CC56-22F14C1D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01A1A-3B0C-B871-63EA-982D09D8F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B0D49-7B35-E08F-2CE6-F4D4E2465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D5DF8-3397-0716-0733-A1D2F5745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2686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2DB5-671B-3D07-09C8-2F326334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8A4BD-F022-4861-CB46-E9BECCD24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7CC11-30AE-81BE-F148-4F10EEA19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D426D-85F4-B4A0-80AF-1C82715E2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0131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9C19-379F-FCF8-256F-4880B1C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D79E5-3218-5731-B8A8-1D48CCC3C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B4276-AC6F-9603-CE00-4C2FEAB3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F27E5-0801-941D-2D10-9E0E14A75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684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CDBA-0B6D-1C1C-8F6D-190086FD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851D5-7890-8774-F67A-73B651ABB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E8B2F-5089-90ED-1DB8-2E5919AF2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AE5-E560-5E90-F9FC-131972F0A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9418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92853-1E0E-82C3-52F4-1008EB08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BF9D4-5E6C-A3D3-F680-1CEFDE83A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0BA75-D4F6-511B-673D-FB6EFFFD2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B21C-780C-D34A-60A8-B58E1414A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8402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8F5F-3AA4-8C9D-57FC-EA23A5DD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D5534-C774-7C98-A041-255AE57C4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A6833-68E6-D388-2214-9C39DF396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1B794-32E8-D8E8-3BD8-B60F8F607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876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C6D4-EDA8-1772-A97F-8252841A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78CC1-21A6-6EA7-2871-5B247B584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FFF1A-C690-659E-316F-6FB6F0029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76BDF-C188-47BD-E0B9-9F71148E1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965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36DAC-BD51-7979-E9AB-7BD42CB0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220C-D428-607A-2BE3-C2935C625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E7E64-1D18-4C5F-713E-2CCAF2E1C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44E17-2A63-D4D2-3D0E-23D200279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1369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8994-F3BE-CA64-F57A-1FC14E14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ECBDF-6A3E-7F7F-E5C7-D647C14A7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DD282-3ED8-119C-E924-ED4BDF8AC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E885F-7483-1756-7AAC-00A52853C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2593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1AF8-575C-58F5-39C4-BB8C03FF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09C22-5B1B-C1B8-35F0-4A18EBAF8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6667D-AC13-A660-55EF-216A507B4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B1B8D-EB2A-A511-50AB-3BEFA3AE7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2615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3213-735B-03C8-01E8-F6AF40D7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0264D-DA33-6ED4-B791-4513BF2E1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26B75-36E4-C486-3D4F-BF61D9407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143D-82E5-B283-1083-16632F1B0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2365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BBDC-1FE7-C3B9-FACE-B19530A9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EBBC2-6C9D-5FDC-5076-7A225432A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7D9C7-F964-A2F7-6545-7F093F847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277F3-CF7D-F0BF-FA5F-51655E5BD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4243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B42E-5C30-EEC3-6703-53833AB8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A9265-5953-E762-35E4-231C96667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618D6-5773-053C-9505-8A582991C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5B9E-112C-24A1-F8D1-8D5F21396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5681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E9A1-0496-B935-45B5-578B485C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49835-4756-0E9C-4975-78A8A06EE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FA81D-B0DB-39CF-FE82-95DA3BAF4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ED679-1A57-0293-B142-F726E1608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3323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11F0-FE4F-2379-74E7-47E4217C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96A08-340A-2A97-B8EE-F394592EB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35498-E5AF-E71E-1111-2127310BB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4B05-8ABB-841F-99DF-C1A323569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29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45502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A0816-4316-3D75-66FF-559F691F8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41F05-7305-F423-4F3B-852E7CC28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1EC7E-AC76-CA06-C820-C726723EF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A7AB6-F998-87A1-FAE1-C905D6C25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0180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48F3-C98D-C2F8-FB2B-B7E7061D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FE330-920B-CE9A-4EB3-E9B1D08B4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F044F-53BF-EF55-26B6-04118818C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D34B-B3D2-E108-A67E-358582CFE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32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44486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75FC-15DE-669F-E92F-D758298C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66C05-F714-BB20-9527-6D21EB337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8E957-DAF9-A616-FB14-DAC17B753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[1m]</a:t>
            </a:r>
          </a:p>
          <a:p>
            <a:r>
              <a:rPr lang="en-US" dirty="0"/>
              <a:t>problem [2m]</a:t>
            </a:r>
          </a:p>
          <a:p>
            <a:r>
              <a:rPr lang="en-US" dirty="0"/>
              <a:t>related work [2m]</a:t>
            </a:r>
          </a:p>
          <a:p>
            <a:r>
              <a:rPr lang="en-US" dirty="0"/>
              <a:t>methodology [3m]</a:t>
            </a:r>
          </a:p>
          <a:p>
            <a:r>
              <a:rPr lang="en-US" dirty="0"/>
              <a:t>result and discussion [3m]</a:t>
            </a:r>
          </a:p>
          <a:p>
            <a:r>
              <a:rPr lang="en-US" dirty="0"/>
              <a:t>future work [1m]</a:t>
            </a:r>
          </a:p>
          <a:p>
            <a:endParaRPr lang="en-US" dirty="0"/>
          </a:p>
          <a:p>
            <a:r>
              <a:rPr lang="en-US" dirty="0"/>
              <a:t>12 min [PPT]</a:t>
            </a:r>
          </a:p>
          <a:p>
            <a:r>
              <a:rPr lang="en-US" dirty="0"/>
              <a:t>3 min [Q&amp;A]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D9D4F-7FE5-CFD0-E07A-D4D470DDD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EAFA7-81E4-497E-9FE5-A400002349D1}" type="slidenum">
              <a:rPr lang="en-SG" smtClean="0"/>
              <a:t>33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498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F11AE-E8DF-4822-8BE6-F0E608C6FAA0}" type="datetimeFigureOut">
              <a:rPr lang="en-SG" smtClean="0"/>
              <a:t>5/2/2026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C2218-D3D7-4142-B257-C46BDF346888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microsoft.com/office/2007/relationships/hdphoto" Target="../media/hdphoto1.wdp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microsoft.com/office/2007/relationships/hdphoto" Target="../media/hdphoto3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2.wdp"/><Relationship Id="rId10" Type="http://schemas.openxmlformats.org/officeDocument/2006/relationships/image" Target="../media/image27.png"/><Relationship Id="rId4" Type="http://schemas.openxmlformats.org/officeDocument/2006/relationships/image" Target="../media/image33.png"/><Relationship Id="rId9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12" Type="http://schemas.microsoft.com/office/2007/relationships/hdphoto" Target="../media/hdphoto4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11" Type="http://schemas.openxmlformats.org/officeDocument/2006/relationships/image" Target="../media/image35.png"/><Relationship Id="rId5" Type="http://schemas.openxmlformats.org/officeDocument/2006/relationships/image" Target="../media/image40.png"/><Relationship Id="rId10" Type="http://schemas.microsoft.com/office/2007/relationships/hdphoto" Target="../media/hdphoto3.wdp"/><Relationship Id="rId4" Type="http://schemas.openxmlformats.org/officeDocument/2006/relationships/image" Target="../media/image39.png"/><Relationship Id="rId9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FFAC5-0047-7C39-40C0-6F1BA0F62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58B4E-481D-2988-6675-28D81C170E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561108" y="1335020"/>
            <a:ext cx="11069783" cy="4382334"/>
            <a:chOff x="561105" y="2215603"/>
            <a:chExt cx="11069783" cy="4382334"/>
          </a:xfrm>
        </p:grpSpPr>
        <p:sp>
          <p:nvSpPr>
            <p:cNvPr id="8" name="TextBox 7"/>
            <p:cNvSpPr txBox="1"/>
            <p:nvPr/>
          </p:nvSpPr>
          <p:spPr>
            <a:xfrm>
              <a:off x="561107" y="2846511"/>
              <a:ext cx="110697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Aptos Black" panose="020B0004020202020204" pitchFamily="34" charset="0"/>
                </a:rPr>
                <a:t>Multimodal Emotion Recognition via </a:t>
              </a:r>
              <a:br>
                <a:rPr lang="en-US" sz="3600" dirty="0">
                  <a:latin typeface="Aptos Black" panose="020B0004020202020204" pitchFamily="34" charset="0"/>
                </a:rPr>
              </a:br>
              <a:r>
                <a:rPr lang="en-US" sz="3600" dirty="0">
                  <a:latin typeface="Aptos Black" panose="020B0004020202020204" pitchFamily="34" charset="0"/>
                </a:rPr>
                <a:t>Ensemble and Learned Fusion Strategies</a:t>
              </a:r>
              <a:endParaRPr lang="en-SG" sz="36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1105" y="4597389"/>
              <a:ext cx="11069781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ptos Black" panose="020B0004020202020204" pitchFamily="34" charset="0"/>
                </a:rPr>
                <a:t>Author: Wee Ling Hue, Ho Chuk Fong, Goh Ching Pang</a:t>
              </a:r>
            </a:p>
            <a:p>
              <a:pPr algn="ctr"/>
              <a:r>
                <a:rPr lang="en-US" sz="2200" dirty="0" err="1">
                  <a:latin typeface="Aptos Black" panose="020B0004020202020204" pitchFamily="34" charset="0"/>
                </a:rPr>
                <a:t>Tunku</a:t>
              </a:r>
              <a:r>
                <a:rPr lang="en-US" sz="2200" dirty="0">
                  <a:latin typeface="Aptos Black" panose="020B0004020202020204" pitchFamily="34" charset="0"/>
                </a:rPr>
                <a:t> Abdul Rahman University of Management and Technology (TAR UMT)</a:t>
              </a:r>
            </a:p>
            <a:p>
              <a:pPr algn="ctr"/>
              <a:r>
                <a:rPr lang="en-US" sz="2200" dirty="0">
                  <a:latin typeface="Aptos Black" panose="020B0004020202020204" pitchFamily="34" charset="0"/>
                </a:rPr>
                <a:t>Kuala Lumpur, Malaysia</a:t>
              </a:r>
            </a:p>
            <a:p>
              <a:pPr algn="ctr"/>
              <a:endParaRPr lang="en-US" sz="3600" dirty="0">
                <a:latin typeface="Aptos Black" panose="020B0004020202020204" pitchFamily="34" charset="0"/>
              </a:endParaRPr>
            </a:p>
            <a:p>
              <a:pPr algn="ctr"/>
              <a:r>
                <a:rPr lang="en-US" sz="2200" dirty="0">
                  <a:latin typeface="Aptos Black" panose="020B0004020202020204" pitchFamily="34" charset="0"/>
                </a:rPr>
                <a:t>Presenter: Ho Chuk Fong</a:t>
              </a:r>
              <a:endParaRPr lang="en-SG" sz="2200" dirty="0">
                <a:latin typeface="Aptos Black" panose="020B00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1106" y="2215603"/>
              <a:ext cx="110697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u="sng" dirty="0">
                  <a:latin typeface="Aptos Black" panose="020B0004020202020204" pitchFamily="34" charset="0"/>
                </a:rPr>
                <a:t>Paper CS780</a:t>
              </a:r>
              <a:endParaRPr lang="en-SG" sz="3600" u="sng" dirty="0">
                <a:latin typeface="Aptos Black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449C"/>
          </a:solidFill>
          <a:ln>
            <a:solidFill>
              <a:srgbClr val="1544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61109" y="2967335"/>
            <a:ext cx="1106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ExtraBold" panose="020B0004020202020204" pitchFamily="34" charset="0"/>
              </a:rPr>
              <a:t>Introduction</a:t>
            </a:r>
            <a:endParaRPr lang="en-SG" sz="540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ExtraBold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1BF8-1AEC-FC7D-56C6-43EB818B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39D30-312F-2352-AACB-E7AF5518DF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0"/>
            <a:ext cx="12192000" cy="6858000"/>
          </a:xfrm>
          <a:prstGeom prst="rect">
            <a:avLst/>
          </a:prstGeom>
        </p:spPr>
      </p:pic>
      <p:sp>
        <p:nvSpPr>
          <p:cNvPr id="4" name="Text Box 1">
            <a:extLst>
              <a:ext uri="{FF2B5EF4-FFF2-40B4-BE49-F238E27FC236}">
                <a16:creationId xmlns:a16="http://schemas.microsoft.com/office/drawing/2014/main" id="{01448482-AF27-3D98-E389-8E60C01E8884}"/>
              </a:ext>
            </a:extLst>
          </p:cNvPr>
          <p:cNvSpPr txBox="1"/>
          <p:nvPr/>
        </p:nvSpPr>
        <p:spPr>
          <a:xfrm>
            <a:off x="0" y="1838121"/>
            <a:ext cx="1219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ym typeface="+mn-ea"/>
              </a:rPr>
              <a:t>"Emotion is a complex pattern of reactions involving </a:t>
            </a:r>
            <a:br>
              <a:rPr lang="en-US" sz="2800" b="1" dirty="0">
                <a:sym typeface="+mn-ea"/>
              </a:rPr>
            </a:br>
            <a:r>
              <a:rPr lang="en-US" sz="2800" b="1" dirty="0">
                <a:sym typeface="+mn-ea"/>
              </a:rPr>
              <a:t>behavioral, physiological, and experiential components</a:t>
            </a:r>
            <a:r>
              <a:rPr sz="2800" b="1" dirty="0">
                <a:sym typeface="+mn-ea"/>
              </a:rPr>
              <a:t>.</a:t>
            </a:r>
            <a:r>
              <a:rPr lang="en-US" sz="2800" b="1" dirty="0">
                <a:sym typeface="+mn-ea"/>
              </a:rPr>
              <a:t>"</a:t>
            </a:r>
            <a:endParaRPr lang="en-US" sz="2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9AE57-DB2C-B6D3-0C3F-FFB7A1BF16A3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C0CF7-80D9-C7C7-30DA-49D6FB0564E4}"/>
              </a:ext>
            </a:extLst>
          </p:cNvPr>
          <p:cNvSpPr txBox="1"/>
          <p:nvPr/>
        </p:nvSpPr>
        <p:spPr>
          <a:xfrm>
            <a:off x="514436" y="800473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Emotion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35A38D-8CEE-6ECF-CF99-03850182F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87" y="3060479"/>
            <a:ext cx="3476349" cy="250072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1208866-D161-EDBA-06BD-305816853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05" y="3150785"/>
            <a:ext cx="3536805" cy="23231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E93D9DF-1590-8B15-CA70-6F79D970AF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50" t="53878" r="5442" b="3897"/>
          <a:stretch>
            <a:fillRect/>
          </a:stretch>
        </p:blipFill>
        <p:spPr>
          <a:xfrm>
            <a:off x="9010901" y="2956814"/>
            <a:ext cx="2421811" cy="2604394"/>
          </a:xfrm>
          <a:prstGeom prst="rect">
            <a:avLst/>
          </a:prstGeom>
        </p:spPr>
      </p:pic>
      <p:sp>
        <p:nvSpPr>
          <p:cNvPr id="41" name="TextBox 16">
            <a:extLst>
              <a:ext uri="{FF2B5EF4-FFF2-40B4-BE49-F238E27FC236}">
                <a16:creationId xmlns:a16="http://schemas.microsoft.com/office/drawing/2014/main" id="{D0372033-9189-90A1-78C4-05BF2CB9D0A2}"/>
              </a:ext>
            </a:extLst>
          </p:cNvPr>
          <p:cNvSpPr txBox="1"/>
          <p:nvPr/>
        </p:nvSpPr>
        <p:spPr>
          <a:xfrm>
            <a:off x="342049" y="5488825"/>
            <a:ext cx="3986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Social relationships</a:t>
            </a: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09D18D04-FA19-392C-EFEC-0EF206996388}"/>
              </a:ext>
            </a:extLst>
          </p:cNvPr>
          <p:cNvSpPr txBox="1"/>
          <p:nvPr/>
        </p:nvSpPr>
        <p:spPr>
          <a:xfrm>
            <a:off x="5017875" y="5488995"/>
            <a:ext cx="286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Communication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0F867808-BCBE-41F5-5349-16ED592F1964}"/>
              </a:ext>
            </a:extLst>
          </p:cNvPr>
          <p:cNvSpPr txBox="1"/>
          <p:nvPr/>
        </p:nvSpPr>
        <p:spPr>
          <a:xfrm>
            <a:off x="8788674" y="5488825"/>
            <a:ext cx="286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09314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431EE-2B54-2845-3844-8DB74EA2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ABEBB-F057-68F3-979E-70F308191B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Box 1">
            <a:extLst>
              <a:ext uri="{FF2B5EF4-FFF2-40B4-BE49-F238E27FC236}">
                <a16:creationId xmlns:a16="http://schemas.microsoft.com/office/drawing/2014/main" id="{B678D0D7-DAC9-ABB4-1DF7-F0C7A25CA8E7}"/>
              </a:ext>
            </a:extLst>
          </p:cNvPr>
          <p:cNvSpPr txBox="1"/>
          <p:nvPr/>
        </p:nvSpPr>
        <p:spPr>
          <a:xfrm>
            <a:off x="0" y="1838121"/>
            <a:ext cx="12192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ym typeface="+mn-ea"/>
              </a:rPr>
              <a:t>"Emotion recognition is the process of identifying a person's </a:t>
            </a:r>
            <a:br>
              <a:rPr lang="en-US" sz="2800" b="1" dirty="0">
                <a:sym typeface="+mn-ea"/>
              </a:rPr>
            </a:br>
            <a:r>
              <a:rPr lang="en-US" sz="2800" b="1" dirty="0">
                <a:sym typeface="+mn-ea"/>
              </a:rPr>
              <a:t>emotional state in response to specific events or situations."</a:t>
            </a:r>
            <a:endParaRPr lang="en-US" sz="2800" b="1" dirty="0"/>
          </a:p>
        </p:txBody>
      </p:sp>
      <p:pic>
        <p:nvPicPr>
          <p:cNvPr id="5" name="Picture 4" descr="A cartoon of a robot&#10;&#10;Description automatically generated">
            <a:extLst>
              <a:ext uri="{FF2B5EF4-FFF2-40B4-BE49-F238E27FC236}">
                <a16:creationId xmlns:a16="http://schemas.microsoft.com/office/drawing/2014/main" id="{8E316500-6558-087A-7E52-DC1AEF7C7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952" y="3565603"/>
            <a:ext cx="2847662" cy="2216677"/>
          </a:xfrm>
          <a:prstGeom prst="rect">
            <a:avLst/>
          </a:prstGeom>
        </p:spPr>
      </p:pic>
      <p:sp>
        <p:nvSpPr>
          <p:cNvPr id="6" name="Rounded Rectangular Callout 9">
            <a:extLst>
              <a:ext uri="{FF2B5EF4-FFF2-40B4-BE49-F238E27FC236}">
                <a16:creationId xmlns:a16="http://schemas.microsoft.com/office/drawing/2014/main" id="{D60E265B-C03F-777C-39E6-27F6C0ECA415}"/>
              </a:ext>
            </a:extLst>
          </p:cNvPr>
          <p:cNvSpPr/>
          <p:nvPr/>
        </p:nvSpPr>
        <p:spPr>
          <a:xfrm>
            <a:off x="2328710" y="3538307"/>
            <a:ext cx="1841500" cy="992505"/>
          </a:xfrm>
          <a:prstGeom prst="wedgeRoundRectCallout">
            <a:avLst>
              <a:gd name="adj1" fmla="val -59731"/>
              <a:gd name="adj2" fmla="val 71930"/>
              <a:gd name="adj3" fmla="val 16667"/>
            </a:avLst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3" descr="25-253978_transparent-microscope-clipart-black-and-white-find-icon">
            <a:extLst>
              <a:ext uri="{FF2B5EF4-FFF2-40B4-BE49-F238E27FC236}">
                <a16:creationId xmlns:a16="http://schemas.microsoft.com/office/drawing/2014/main" id="{3DEECCB0-312A-1065-5119-D3C91CB6980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9142823" flipH="1">
            <a:off x="2662037" y="3074238"/>
            <a:ext cx="2005965" cy="2230755"/>
          </a:xfrm>
          <a:prstGeom prst="rect">
            <a:avLst/>
          </a:prstGeom>
        </p:spPr>
      </p:pic>
      <p:pic>
        <p:nvPicPr>
          <p:cNvPr id="8" name="Picture 7" descr="Silhouettes of people in suits and ties&#10;&#10;Description automatically generated">
            <a:extLst>
              <a:ext uri="{FF2B5EF4-FFF2-40B4-BE49-F238E27FC236}">
                <a16:creationId xmlns:a16="http://schemas.microsoft.com/office/drawing/2014/main" id="{0D2BF0C8-18CF-A232-DE14-4A6D05370E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47" t="34926" r="4184" b="37372"/>
          <a:stretch>
            <a:fillRect/>
          </a:stretch>
        </p:blipFill>
        <p:spPr>
          <a:xfrm>
            <a:off x="992239" y="4189616"/>
            <a:ext cx="1501255" cy="158314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8F43157-5131-BF94-B5D0-A583B22E1327}"/>
              </a:ext>
            </a:extLst>
          </p:cNvPr>
          <p:cNvGrpSpPr/>
          <p:nvPr/>
        </p:nvGrpSpPr>
        <p:grpSpPr>
          <a:xfrm>
            <a:off x="832563" y="2992547"/>
            <a:ext cx="1243833" cy="937409"/>
            <a:chOff x="8254477" y="3282282"/>
            <a:chExt cx="1383674" cy="1006521"/>
          </a:xfrm>
        </p:grpSpPr>
        <p:sp>
          <p:nvSpPr>
            <p:cNvPr id="10" name="Cloud Callout 25">
              <a:extLst>
                <a:ext uri="{FF2B5EF4-FFF2-40B4-BE49-F238E27FC236}">
                  <a16:creationId xmlns:a16="http://schemas.microsoft.com/office/drawing/2014/main" id="{EA733CD8-816A-CF19-4DBB-6A82F0D45550}"/>
                </a:ext>
              </a:extLst>
            </p:cNvPr>
            <p:cNvSpPr/>
            <p:nvPr/>
          </p:nvSpPr>
          <p:spPr>
            <a:xfrm rot="433055">
              <a:off x="8254477" y="3282282"/>
              <a:ext cx="1383674" cy="1006521"/>
            </a:xfrm>
            <a:prstGeom prst="cloudCallout">
              <a:avLst>
                <a:gd name="adj1" fmla="val 25137"/>
                <a:gd name="adj2" fmla="val 82295"/>
              </a:avLst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58FC3A-BD57-A781-41C8-80DFAEC6A5C3}"/>
                </a:ext>
              </a:extLst>
            </p:cNvPr>
            <p:cNvSpPr/>
            <p:nvPr/>
          </p:nvSpPr>
          <p:spPr>
            <a:xfrm>
              <a:off x="9168275" y="3711273"/>
              <a:ext cx="286603" cy="2866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AB6BED0-1A4E-DFB7-F98B-13881505FC2B}"/>
              </a:ext>
            </a:extLst>
          </p:cNvPr>
          <p:cNvSpPr txBox="1"/>
          <p:nvPr/>
        </p:nvSpPr>
        <p:spPr>
          <a:xfrm>
            <a:off x="4369832" y="5744194"/>
            <a:ext cx="324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Emotion Model</a:t>
            </a:r>
          </a:p>
        </p:txBody>
      </p:sp>
      <p:sp>
        <p:nvSpPr>
          <p:cNvPr id="13" name="Rounded Rectangular Callout 9">
            <a:extLst>
              <a:ext uri="{FF2B5EF4-FFF2-40B4-BE49-F238E27FC236}">
                <a16:creationId xmlns:a16="http://schemas.microsoft.com/office/drawing/2014/main" id="{CDF06D5B-A1FB-0CFA-17C0-422E7DAC4830}"/>
              </a:ext>
            </a:extLst>
          </p:cNvPr>
          <p:cNvSpPr/>
          <p:nvPr/>
        </p:nvSpPr>
        <p:spPr>
          <a:xfrm>
            <a:off x="7716756" y="3439233"/>
            <a:ext cx="2690926" cy="1645952"/>
          </a:xfrm>
          <a:prstGeom prst="wedgeRoundRectCallout">
            <a:avLst>
              <a:gd name="adj1" fmla="val -85881"/>
              <a:gd name="adj2" fmla="val -12785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CEFAB-A3DC-03BA-0BC3-E8349BA27148}"/>
              </a:ext>
            </a:extLst>
          </p:cNvPr>
          <p:cNvSpPr txBox="1"/>
          <p:nvPr/>
        </p:nvSpPr>
        <p:spPr>
          <a:xfrm>
            <a:off x="2309457" y="3673652"/>
            <a:ext cx="1841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Where did you go yesterday? I waited for you for a long time. I don't think it was nice of you to not wait for me.</a:t>
            </a:r>
          </a:p>
        </p:txBody>
      </p:sp>
      <p:pic>
        <p:nvPicPr>
          <p:cNvPr id="16" name="Picture 15" descr="473819">
            <a:extLst>
              <a:ext uri="{FF2B5EF4-FFF2-40B4-BE49-F238E27FC236}">
                <a16:creationId xmlns:a16="http://schemas.microsoft.com/office/drawing/2014/main" id="{6754F001-16C8-4E4A-2BE5-1EA62A6C11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725" t="31990" b="32659"/>
          <a:stretch>
            <a:fillRect/>
          </a:stretch>
        </p:blipFill>
        <p:spPr>
          <a:xfrm>
            <a:off x="1151828" y="3132499"/>
            <a:ext cx="606953" cy="63020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D16066-15BA-6D8B-6C00-752F9121BEAC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E2A61-25D9-EC91-8474-B201C2CA21E4}"/>
              </a:ext>
            </a:extLst>
          </p:cNvPr>
          <p:cNvSpPr txBox="1"/>
          <p:nvPr/>
        </p:nvSpPr>
        <p:spPr>
          <a:xfrm>
            <a:off x="561109" y="800697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Emotion Recognition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C4B13E-A036-D1E1-EF0A-EF33FF8B8C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9097" y="3602820"/>
            <a:ext cx="2486243" cy="13099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0BA100-BC74-A6A0-D267-42106BFE73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9413152" y="3537892"/>
            <a:ext cx="4249148" cy="706681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517B2B-021E-8ED3-5F81-D81EEF387B04}"/>
              </a:ext>
            </a:extLst>
          </p:cNvPr>
          <p:cNvSpPr/>
          <p:nvPr/>
        </p:nvSpPr>
        <p:spPr>
          <a:xfrm>
            <a:off x="11299371" y="1888662"/>
            <a:ext cx="475862" cy="4972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2D9FD9-512D-8FF9-3959-2A3616B12815}"/>
              </a:ext>
            </a:extLst>
          </p:cNvPr>
          <p:cNvSpPr/>
          <p:nvPr/>
        </p:nvSpPr>
        <p:spPr>
          <a:xfrm>
            <a:off x="11299371" y="2121547"/>
            <a:ext cx="475862" cy="283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A6DF18-12AD-80AD-EE8B-F65874ABA6F7}"/>
              </a:ext>
            </a:extLst>
          </p:cNvPr>
          <p:cNvCxnSpPr/>
          <p:nvPr/>
        </p:nvCxnSpPr>
        <p:spPr>
          <a:xfrm flipV="1">
            <a:off x="11075436" y="2121547"/>
            <a:ext cx="0" cy="359811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09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AE9F-764B-5005-320B-0B074020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644F6-BBA3-0265-3B16-DC3B2A2D49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" y="0"/>
            <a:ext cx="12192000" cy="6858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22F57A7-AE01-C08A-6894-EC7D2469BBC3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8054CE0-A4BB-50A6-6068-4440CF74A929}"/>
              </a:ext>
            </a:extLst>
          </p:cNvPr>
          <p:cNvSpPr txBox="1"/>
          <p:nvPr/>
        </p:nvSpPr>
        <p:spPr>
          <a:xfrm>
            <a:off x="791425" y="5576440"/>
            <a:ext cx="2019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Visual-based</a:t>
            </a:r>
          </a:p>
        </p:txBody>
      </p:sp>
      <p:pic>
        <p:nvPicPr>
          <p:cNvPr id="6" name="Picture 5" descr="A set of icons of different types of human head&#10;&#10;Description automatically generated with medium confidence">
            <a:extLst>
              <a:ext uri="{FF2B5EF4-FFF2-40B4-BE49-F238E27FC236}">
                <a16:creationId xmlns:a16="http://schemas.microsoft.com/office/drawing/2014/main" id="{6F226269-BB27-6DB5-AA48-4B3E9894B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8" t="68781" r="59718" b="10073"/>
          <a:stretch>
            <a:fillRect/>
          </a:stretch>
        </p:blipFill>
        <p:spPr>
          <a:xfrm>
            <a:off x="5197206" y="3688237"/>
            <a:ext cx="911744" cy="728530"/>
          </a:xfrm>
          <a:prstGeom prst="rect">
            <a:avLst/>
          </a:prstGeom>
        </p:spPr>
      </p:pic>
      <p:pic>
        <p:nvPicPr>
          <p:cNvPr id="7" name="Picture 6" descr="A set of icons of different types of human head&#10;&#10;Description automatically generated with medium confidence">
            <a:extLst>
              <a:ext uri="{FF2B5EF4-FFF2-40B4-BE49-F238E27FC236}">
                <a16:creationId xmlns:a16="http://schemas.microsoft.com/office/drawing/2014/main" id="{86F1D49D-827C-2FA2-5C68-185F01A32E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8" t="68781" r="59718" b="10073"/>
          <a:stretch>
            <a:fillRect/>
          </a:stretch>
        </p:blipFill>
        <p:spPr>
          <a:xfrm>
            <a:off x="5197206" y="4914157"/>
            <a:ext cx="911744" cy="728530"/>
          </a:xfrm>
          <a:prstGeom prst="rect">
            <a:avLst/>
          </a:prstGeom>
        </p:spPr>
      </p:pic>
      <p:pic>
        <p:nvPicPr>
          <p:cNvPr id="8" name="Picture 7" descr="A set of icons of different types of human head&#10;&#10;Description automatically generated with medium confidence">
            <a:extLst>
              <a:ext uri="{FF2B5EF4-FFF2-40B4-BE49-F238E27FC236}">
                <a16:creationId xmlns:a16="http://schemas.microsoft.com/office/drawing/2014/main" id="{0C599C66-822A-199A-2174-AFABB0D575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8" t="68781" r="59718" b="10073"/>
          <a:stretch>
            <a:fillRect/>
          </a:stretch>
        </p:blipFill>
        <p:spPr>
          <a:xfrm>
            <a:off x="5197206" y="2485269"/>
            <a:ext cx="911744" cy="728530"/>
          </a:xfrm>
          <a:prstGeom prst="rect">
            <a:avLst/>
          </a:prstGeom>
        </p:spPr>
      </p:pic>
      <p:pic>
        <p:nvPicPr>
          <p:cNvPr id="10" name="Picture 9" descr="A red and blue gear with arrows&#10;&#10;Description automatically generated">
            <a:extLst>
              <a:ext uri="{FF2B5EF4-FFF2-40B4-BE49-F238E27FC236}">
                <a16:creationId xmlns:a16="http://schemas.microsoft.com/office/drawing/2014/main" id="{DF8C47A5-360B-C8A4-9A05-27C4F19D495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20687" r="20761" b="21046"/>
          <a:stretch/>
        </p:blipFill>
        <p:spPr>
          <a:xfrm>
            <a:off x="3319308" y="4943576"/>
            <a:ext cx="674265" cy="669693"/>
          </a:xfrm>
          <a:prstGeom prst="rect">
            <a:avLst/>
          </a:prstGeom>
        </p:spPr>
      </p:pic>
      <p:pic>
        <p:nvPicPr>
          <p:cNvPr id="11" name="Picture 10" descr="A red and blue gear with arrows&#10;&#10;Description automatically generated">
            <a:extLst>
              <a:ext uri="{FF2B5EF4-FFF2-40B4-BE49-F238E27FC236}">
                <a16:creationId xmlns:a16="http://schemas.microsoft.com/office/drawing/2014/main" id="{3BE70BA0-847E-E046-929E-8B9583510AB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20687" r="20761" b="21046"/>
          <a:stretch/>
        </p:blipFill>
        <p:spPr>
          <a:xfrm>
            <a:off x="3319308" y="2514688"/>
            <a:ext cx="674265" cy="669693"/>
          </a:xfrm>
          <a:prstGeom prst="rect">
            <a:avLst/>
          </a:prstGeom>
        </p:spPr>
      </p:pic>
      <p:pic>
        <p:nvPicPr>
          <p:cNvPr id="12" name="Picture 11" descr="A red and blue gear with arrows&#10;&#10;Description automatically generated">
            <a:extLst>
              <a:ext uri="{FF2B5EF4-FFF2-40B4-BE49-F238E27FC236}">
                <a16:creationId xmlns:a16="http://schemas.microsoft.com/office/drawing/2014/main" id="{9C2BEC5F-D9F7-EBDA-3CFE-695E48EE5B0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20687" r="20761" b="21046"/>
          <a:stretch/>
        </p:blipFill>
        <p:spPr>
          <a:xfrm>
            <a:off x="3319308" y="3714858"/>
            <a:ext cx="674265" cy="66969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3DDE76-9DBE-8793-26A5-A16498F3DA09}"/>
              </a:ext>
            </a:extLst>
          </p:cNvPr>
          <p:cNvCxnSpPr>
            <a:cxnSpLocks/>
          </p:cNvCxnSpPr>
          <p:nvPr/>
        </p:nvCxnSpPr>
        <p:spPr>
          <a:xfrm>
            <a:off x="4080891" y="4065202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BEDA30-8AC2-B425-A76F-7C1216E7360B}"/>
              </a:ext>
            </a:extLst>
          </p:cNvPr>
          <p:cNvCxnSpPr>
            <a:cxnSpLocks/>
          </p:cNvCxnSpPr>
          <p:nvPr/>
        </p:nvCxnSpPr>
        <p:spPr>
          <a:xfrm>
            <a:off x="4075893" y="5297305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4F7A25-A6B4-19D3-B26D-D404AF3CED3F}"/>
              </a:ext>
            </a:extLst>
          </p:cNvPr>
          <p:cNvCxnSpPr>
            <a:cxnSpLocks/>
          </p:cNvCxnSpPr>
          <p:nvPr/>
        </p:nvCxnSpPr>
        <p:spPr>
          <a:xfrm>
            <a:off x="4075892" y="2849534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16">
            <a:extLst>
              <a:ext uri="{FF2B5EF4-FFF2-40B4-BE49-F238E27FC236}">
                <a16:creationId xmlns:a16="http://schemas.microsoft.com/office/drawing/2014/main" id="{11E1DD0F-8D0E-BABC-5EE2-7ADFF31C4939}"/>
              </a:ext>
            </a:extLst>
          </p:cNvPr>
          <p:cNvSpPr txBox="1"/>
          <p:nvPr/>
        </p:nvSpPr>
        <p:spPr>
          <a:xfrm>
            <a:off x="1064149" y="3119338"/>
            <a:ext cx="147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Text-based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4E271D82-5911-D129-C98A-23A619239561}"/>
              </a:ext>
            </a:extLst>
          </p:cNvPr>
          <p:cNvSpPr txBox="1"/>
          <p:nvPr/>
        </p:nvSpPr>
        <p:spPr>
          <a:xfrm>
            <a:off x="2991131" y="1885383"/>
            <a:ext cx="133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latin typeface="Aptos Black" panose="020B0004020202020204" pitchFamily="34" charset="0"/>
              </a:rPr>
              <a:t>Training</a:t>
            </a: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03F918E8-2E0C-3C30-8752-AB0819F75D77}"/>
              </a:ext>
            </a:extLst>
          </p:cNvPr>
          <p:cNvSpPr txBox="1"/>
          <p:nvPr/>
        </p:nvSpPr>
        <p:spPr>
          <a:xfrm>
            <a:off x="5072674" y="1885383"/>
            <a:ext cx="133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latin typeface="Aptos Black" panose="020B0004020202020204" pitchFamily="34" charset="0"/>
              </a:rPr>
              <a:t>Models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A1AA5005-AA39-6DE7-7F52-4D83FBBCEBAB}"/>
              </a:ext>
            </a:extLst>
          </p:cNvPr>
          <p:cNvSpPr txBox="1"/>
          <p:nvPr/>
        </p:nvSpPr>
        <p:spPr>
          <a:xfrm>
            <a:off x="9440117" y="1888301"/>
            <a:ext cx="1721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latin typeface="Aptos Black" panose="020B0004020202020204" pitchFamily="34" charset="0"/>
              </a:rPr>
              <a:t>Prediction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0696730A-7838-790E-0509-8296FB42B385}"/>
              </a:ext>
            </a:extLst>
          </p:cNvPr>
          <p:cNvSpPr txBox="1"/>
          <p:nvPr/>
        </p:nvSpPr>
        <p:spPr>
          <a:xfrm>
            <a:off x="7195448" y="1885383"/>
            <a:ext cx="1237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latin typeface="Aptos Black" panose="020B0004020202020204" pitchFamily="34" charset="0"/>
              </a:rPr>
              <a:t>Testing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1C57C6-79B4-9FC7-FCDA-304D59C4CC09}"/>
              </a:ext>
            </a:extLst>
          </p:cNvPr>
          <p:cNvSpPr txBox="1"/>
          <p:nvPr/>
        </p:nvSpPr>
        <p:spPr>
          <a:xfrm>
            <a:off x="561109" y="80263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Categories of Emotion Recognition Model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0190949-5616-A05B-6B5A-42636C9A2FA9}"/>
              </a:ext>
            </a:extLst>
          </p:cNvPr>
          <p:cNvCxnSpPr>
            <a:cxnSpLocks/>
          </p:cNvCxnSpPr>
          <p:nvPr/>
        </p:nvCxnSpPr>
        <p:spPr>
          <a:xfrm>
            <a:off x="6136943" y="5316231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76508B27-555A-F3EB-9B48-2DE00EDD0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159" y="4912869"/>
            <a:ext cx="940798" cy="681738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AA9E87C-20DF-58BA-69B0-9DBF160D87CD}"/>
              </a:ext>
            </a:extLst>
          </p:cNvPr>
          <p:cNvCxnSpPr>
            <a:cxnSpLocks/>
          </p:cNvCxnSpPr>
          <p:nvPr/>
        </p:nvCxnSpPr>
        <p:spPr>
          <a:xfrm>
            <a:off x="8383166" y="5307792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096EEB-0885-FC4A-C93E-CC41581E7CB8}"/>
              </a:ext>
            </a:extLst>
          </p:cNvPr>
          <p:cNvCxnSpPr>
            <a:cxnSpLocks/>
          </p:cNvCxnSpPr>
          <p:nvPr/>
        </p:nvCxnSpPr>
        <p:spPr>
          <a:xfrm>
            <a:off x="6133019" y="4074792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F0393A8-CD73-F005-6F04-1C4E65A2ADFB}"/>
              </a:ext>
            </a:extLst>
          </p:cNvPr>
          <p:cNvCxnSpPr>
            <a:cxnSpLocks/>
          </p:cNvCxnSpPr>
          <p:nvPr/>
        </p:nvCxnSpPr>
        <p:spPr>
          <a:xfrm>
            <a:off x="8379242" y="4066353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F0C72-EC5E-27CE-0A4F-F3FAC3329D64}"/>
              </a:ext>
            </a:extLst>
          </p:cNvPr>
          <p:cNvCxnSpPr>
            <a:cxnSpLocks/>
          </p:cNvCxnSpPr>
          <p:nvPr/>
        </p:nvCxnSpPr>
        <p:spPr>
          <a:xfrm>
            <a:off x="6142381" y="2853251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42142A4-AF37-496D-5CA3-748854F4D66C}"/>
              </a:ext>
            </a:extLst>
          </p:cNvPr>
          <p:cNvCxnSpPr>
            <a:cxnSpLocks/>
          </p:cNvCxnSpPr>
          <p:nvPr/>
        </p:nvCxnSpPr>
        <p:spPr>
          <a:xfrm>
            <a:off x="8388604" y="2844812"/>
            <a:ext cx="1084944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669EEE8D-3087-9169-A2D9-21CF06AE0E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846" y="2456362"/>
            <a:ext cx="1351945" cy="77471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D09B012-2FC1-52DF-FC03-026DAA3C2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846" y="3658677"/>
            <a:ext cx="1351945" cy="77471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215DA5D-29C9-5601-F4BE-881B100DD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7947" y="4928876"/>
            <a:ext cx="1351945" cy="774710"/>
          </a:xfrm>
          <a:prstGeom prst="rect">
            <a:avLst/>
          </a:prstGeom>
        </p:spPr>
      </p:pic>
      <p:sp>
        <p:nvSpPr>
          <p:cNvPr id="71" name="TextBox 16">
            <a:extLst>
              <a:ext uri="{FF2B5EF4-FFF2-40B4-BE49-F238E27FC236}">
                <a16:creationId xmlns:a16="http://schemas.microsoft.com/office/drawing/2014/main" id="{1CA7D4AA-4686-07E5-1132-861D460DD19C}"/>
              </a:ext>
            </a:extLst>
          </p:cNvPr>
          <p:cNvSpPr txBox="1"/>
          <p:nvPr/>
        </p:nvSpPr>
        <p:spPr>
          <a:xfrm>
            <a:off x="9349892" y="3122812"/>
            <a:ext cx="1852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Happy</a:t>
            </a:r>
          </a:p>
        </p:txBody>
      </p:sp>
      <p:sp>
        <p:nvSpPr>
          <p:cNvPr id="72" name="TextBox 16">
            <a:extLst>
              <a:ext uri="{FF2B5EF4-FFF2-40B4-BE49-F238E27FC236}">
                <a16:creationId xmlns:a16="http://schemas.microsoft.com/office/drawing/2014/main" id="{C1115C9D-ED91-C35B-85C9-69F35D4680A4}"/>
              </a:ext>
            </a:extLst>
          </p:cNvPr>
          <p:cNvSpPr txBox="1"/>
          <p:nvPr/>
        </p:nvSpPr>
        <p:spPr>
          <a:xfrm>
            <a:off x="9355546" y="4326739"/>
            <a:ext cx="1852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Happy</a:t>
            </a: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5CBB1974-E372-43F4-2407-F1F83B92D4BE}"/>
              </a:ext>
            </a:extLst>
          </p:cNvPr>
          <p:cNvSpPr txBox="1"/>
          <p:nvPr/>
        </p:nvSpPr>
        <p:spPr>
          <a:xfrm>
            <a:off x="9349893" y="5591665"/>
            <a:ext cx="1852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Happy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363F478-8209-D46D-5382-141BAD26AEBC}"/>
              </a:ext>
            </a:extLst>
          </p:cNvPr>
          <p:cNvCxnSpPr>
            <a:cxnSpLocks/>
          </p:cNvCxnSpPr>
          <p:nvPr/>
        </p:nvCxnSpPr>
        <p:spPr>
          <a:xfrm>
            <a:off x="2245869" y="4075727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7F2AB5E-A337-E80E-1A55-78CDC564C882}"/>
              </a:ext>
            </a:extLst>
          </p:cNvPr>
          <p:cNvCxnSpPr>
            <a:cxnSpLocks/>
          </p:cNvCxnSpPr>
          <p:nvPr/>
        </p:nvCxnSpPr>
        <p:spPr>
          <a:xfrm>
            <a:off x="2240871" y="5307830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9F022EA-3D89-074C-3F0E-07E5621D48FF}"/>
              </a:ext>
            </a:extLst>
          </p:cNvPr>
          <p:cNvCxnSpPr>
            <a:cxnSpLocks/>
          </p:cNvCxnSpPr>
          <p:nvPr/>
        </p:nvCxnSpPr>
        <p:spPr>
          <a:xfrm>
            <a:off x="2240870" y="2860059"/>
            <a:ext cx="100434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1B6675C4-5E9C-054F-13E6-C6AC9E9769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7544" y="2563025"/>
            <a:ext cx="747177" cy="59406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C29FEBD1-9D63-0E76-9603-6A8064187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3759" y="5016606"/>
            <a:ext cx="756483" cy="582372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1A8C8CCC-670F-C65C-D91D-1C785F83C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9361" y="3789648"/>
            <a:ext cx="737118" cy="573986"/>
          </a:xfrm>
          <a:prstGeom prst="rect">
            <a:avLst/>
          </a:prstGeom>
        </p:spPr>
      </p:pic>
      <p:sp>
        <p:nvSpPr>
          <p:cNvPr id="87" name="TextBox 16">
            <a:extLst>
              <a:ext uri="{FF2B5EF4-FFF2-40B4-BE49-F238E27FC236}">
                <a16:creationId xmlns:a16="http://schemas.microsoft.com/office/drawing/2014/main" id="{DA0E2C0F-B102-5973-59D3-A2DB9A87A5E5}"/>
              </a:ext>
            </a:extLst>
          </p:cNvPr>
          <p:cNvSpPr txBox="1"/>
          <p:nvPr/>
        </p:nvSpPr>
        <p:spPr>
          <a:xfrm>
            <a:off x="1054240" y="1885383"/>
            <a:ext cx="147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>
                <a:latin typeface="Aptos Black" panose="020B0004020202020204" pitchFamily="34" charset="0"/>
              </a:rPr>
              <a:t>Modality</a:t>
            </a:r>
          </a:p>
        </p:txBody>
      </p:sp>
      <p:sp>
        <p:nvSpPr>
          <p:cNvPr id="88" name="TextBox 16">
            <a:extLst>
              <a:ext uri="{FF2B5EF4-FFF2-40B4-BE49-F238E27FC236}">
                <a16:creationId xmlns:a16="http://schemas.microsoft.com/office/drawing/2014/main" id="{74D44A02-5C13-FC62-122C-E4E053B35B58}"/>
              </a:ext>
            </a:extLst>
          </p:cNvPr>
          <p:cNvSpPr txBox="1"/>
          <p:nvPr/>
        </p:nvSpPr>
        <p:spPr>
          <a:xfrm>
            <a:off x="957982" y="4333355"/>
            <a:ext cx="1668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Audio-based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6613E287-7295-4F66-C4F7-B7CECA57F3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6234" y="3696611"/>
            <a:ext cx="1025063" cy="66254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ECB0A589-9AC2-F24A-346E-CC17234DF9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7393" y="2398265"/>
            <a:ext cx="990938" cy="752940"/>
          </a:xfrm>
          <a:prstGeom prst="rect">
            <a:avLst/>
          </a:prstGeom>
        </p:spPr>
      </p:pic>
      <p:sp>
        <p:nvSpPr>
          <p:cNvPr id="2" name="TextBox 16">
            <a:extLst>
              <a:ext uri="{FF2B5EF4-FFF2-40B4-BE49-F238E27FC236}">
                <a16:creationId xmlns:a16="http://schemas.microsoft.com/office/drawing/2014/main" id="{0FC820C2-17C4-2171-74FC-190C66DD1B91}"/>
              </a:ext>
            </a:extLst>
          </p:cNvPr>
          <p:cNvSpPr txBox="1"/>
          <p:nvPr/>
        </p:nvSpPr>
        <p:spPr>
          <a:xfrm>
            <a:off x="6749190" y="5588469"/>
            <a:ext cx="2019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Facial Expression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5A1FC0B6-02F7-0016-2A59-1F35D9DEC2FF}"/>
              </a:ext>
            </a:extLst>
          </p:cNvPr>
          <p:cNvSpPr txBox="1"/>
          <p:nvPr/>
        </p:nvSpPr>
        <p:spPr>
          <a:xfrm>
            <a:off x="6978578" y="3119338"/>
            <a:ext cx="1668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Written Text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227FE336-3EEF-3897-F5D1-63B26B27CEF0}"/>
              </a:ext>
            </a:extLst>
          </p:cNvPr>
          <p:cNvSpPr txBox="1"/>
          <p:nvPr/>
        </p:nvSpPr>
        <p:spPr>
          <a:xfrm>
            <a:off x="6886326" y="4323604"/>
            <a:ext cx="1852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b="1" dirty="0"/>
              <a:t>Speech Pattern</a:t>
            </a:r>
          </a:p>
        </p:txBody>
      </p:sp>
    </p:spTree>
    <p:extLst>
      <p:ext uri="{BB962C8B-B14F-4D97-AF65-F5344CB8AC3E}">
        <p14:creationId xmlns:p14="http://schemas.microsoft.com/office/powerpoint/2010/main" val="106962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2717-C87F-B978-0E1B-0624BAA4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3FF5BF-6774-2F2F-FF8B-93E9E8717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" y="0"/>
            <a:ext cx="12192000" cy="685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7D1DF70-2E51-8D8F-5D06-31F01E905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27" y="3287764"/>
            <a:ext cx="1098697" cy="87355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74F3470-DB43-6E52-9831-D670ABB11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58" y="3296362"/>
            <a:ext cx="1112382" cy="85635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6CE1101C-469D-CD19-D607-A38B37A626AF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A5411B-8EED-8676-6D78-50B977A91289}"/>
              </a:ext>
            </a:extLst>
          </p:cNvPr>
          <p:cNvSpPr txBox="1"/>
          <p:nvPr/>
        </p:nvSpPr>
        <p:spPr>
          <a:xfrm>
            <a:off x="561109" y="80263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Single Modality Approach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9D299465-9A24-4B7A-B612-05B653FB9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313" y="3292238"/>
            <a:ext cx="1083906" cy="844026"/>
          </a:xfrm>
          <a:prstGeom prst="rect">
            <a:avLst/>
          </a:prstGeom>
        </p:spPr>
      </p:pic>
      <p:sp>
        <p:nvSpPr>
          <p:cNvPr id="13" name="Not Equal 12">
            <a:extLst>
              <a:ext uri="{FF2B5EF4-FFF2-40B4-BE49-F238E27FC236}">
                <a16:creationId xmlns:a16="http://schemas.microsoft.com/office/drawing/2014/main" id="{DBF9DD98-8A70-646A-4BAB-AB1488EE0DD8}"/>
              </a:ext>
            </a:extLst>
          </p:cNvPr>
          <p:cNvSpPr/>
          <p:nvPr/>
        </p:nvSpPr>
        <p:spPr>
          <a:xfrm>
            <a:off x="2141678" y="2084332"/>
            <a:ext cx="1098697" cy="796550"/>
          </a:xfrm>
          <a:prstGeom prst="mathNot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4" name="Not Equal 13">
            <a:extLst>
              <a:ext uri="{FF2B5EF4-FFF2-40B4-BE49-F238E27FC236}">
                <a16:creationId xmlns:a16="http://schemas.microsoft.com/office/drawing/2014/main" id="{1F0566EB-FD28-38E7-DB24-614777599CEA}"/>
              </a:ext>
            </a:extLst>
          </p:cNvPr>
          <p:cNvSpPr/>
          <p:nvPr/>
        </p:nvSpPr>
        <p:spPr>
          <a:xfrm>
            <a:off x="4762170" y="2084332"/>
            <a:ext cx="1098697" cy="796550"/>
          </a:xfrm>
          <a:prstGeom prst="mathNot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FC0B7B7-635B-CFA3-2706-04F99C8720B2}"/>
              </a:ext>
            </a:extLst>
          </p:cNvPr>
          <p:cNvGrpSpPr/>
          <p:nvPr/>
        </p:nvGrpSpPr>
        <p:grpSpPr>
          <a:xfrm>
            <a:off x="443778" y="1527274"/>
            <a:ext cx="7094312" cy="1869480"/>
            <a:chOff x="443778" y="1527274"/>
            <a:chExt cx="7094312" cy="1869480"/>
          </a:xfrm>
        </p:grpSpPr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FA41C3F9-26D8-2A18-B071-63AF8A8D8C91}"/>
                </a:ext>
              </a:extLst>
            </p:cNvPr>
            <p:cNvSpPr/>
            <p:nvPr/>
          </p:nvSpPr>
          <p:spPr>
            <a:xfrm>
              <a:off x="443778" y="1527274"/>
              <a:ext cx="1869480" cy="1869480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9F95D05A-FAB1-3FBF-46F1-342616AF0535}"/>
                </a:ext>
              </a:extLst>
            </p:cNvPr>
            <p:cNvSpPr/>
            <p:nvPr/>
          </p:nvSpPr>
          <p:spPr>
            <a:xfrm>
              <a:off x="3073603" y="1527274"/>
              <a:ext cx="1869480" cy="1869480"/>
            </a:xfrm>
            <a:prstGeom prst="flowChartConnector">
              <a:avLst/>
            </a:prstGeom>
            <a:solidFill>
              <a:srgbClr val="FECE00"/>
            </a:solidFill>
            <a:ln>
              <a:solidFill>
                <a:srgbClr val="FECE00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63E3C52F-0AC7-B4E8-B48E-E86BB1D103AE}"/>
                </a:ext>
              </a:extLst>
            </p:cNvPr>
            <p:cNvSpPr/>
            <p:nvPr/>
          </p:nvSpPr>
          <p:spPr>
            <a:xfrm>
              <a:off x="5668610" y="1527274"/>
              <a:ext cx="1869480" cy="186948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A87694A-0880-7841-7557-CB8154286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7898"/>
            <a:stretch>
              <a:fillRect/>
            </a:stretch>
          </p:blipFill>
          <p:spPr>
            <a:xfrm>
              <a:off x="3679174" y="2071397"/>
              <a:ext cx="672183" cy="11438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D11A1AD-EF58-E770-11B7-6AC24DD2A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62" r="38730"/>
            <a:stretch>
              <a:fillRect/>
            </a:stretch>
          </p:blipFill>
          <p:spPr>
            <a:xfrm>
              <a:off x="1029702" y="2071398"/>
              <a:ext cx="696686" cy="114382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170337D-DC7D-FDF6-0215-AF30D85ED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41"/>
            <a:stretch>
              <a:fillRect/>
            </a:stretch>
          </p:blipFill>
          <p:spPr>
            <a:xfrm>
              <a:off x="6297429" y="2071399"/>
              <a:ext cx="667827" cy="1143825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4BCFDDE9-4E1A-7B0A-BEA3-DF46B75609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78" y="4955395"/>
            <a:ext cx="1351945" cy="774710"/>
          </a:xfrm>
          <a:prstGeom prst="rect">
            <a:avLst/>
          </a:prstGeom>
        </p:spPr>
      </p:pic>
      <p:sp>
        <p:nvSpPr>
          <p:cNvPr id="34" name="TextBox 16">
            <a:extLst>
              <a:ext uri="{FF2B5EF4-FFF2-40B4-BE49-F238E27FC236}">
                <a16:creationId xmlns:a16="http://schemas.microsoft.com/office/drawing/2014/main" id="{690279FE-1D3F-5D8F-B8CF-2D7D9D0297DF}"/>
              </a:ext>
            </a:extLst>
          </p:cNvPr>
          <p:cNvSpPr txBox="1"/>
          <p:nvPr/>
        </p:nvSpPr>
        <p:spPr>
          <a:xfrm>
            <a:off x="438379" y="5615551"/>
            <a:ext cx="185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Happy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4865A484-D168-7A57-482B-925BEAA3C8B4}"/>
              </a:ext>
            </a:extLst>
          </p:cNvPr>
          <p:cNvSpPr/>
          <p:nvPr/>
        </p:nvSpPr>
        <p:spPr>
          <a:xfrm>
            <a:off x="1084131" y="4273513"/>
            <a:ext cx="587828" cy="57416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04DACD-D451-A081-8741-CDA1645976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5293" y="4955395"/>
            <a:ext cx="1351945" cy="774710"/>
          </a:xfrm>
          <a:prstGeom prst="rect">
            <a:avLst/>
          </a:prstGeom>
        </p:spPr>
      </p:pic>
      <p:sp>
        <p:nvSpPr>
          <p:cNvPr id="37" name="TextBox 16">
            <a:extLst>
              <a:ext uri="{FF2B5EF4-FFF2-40B4-BE49-F238E27FC236}">
                <a16:creationId xmlns:a16="http://schemas.microsoft.com/office/drawing/2014/main" id="{E04D9A82-9849-1283-E35A-3395848F9737}"/>
              </a:ext>
            </a:extLst>
          </p:cNvPr>
          <p:cNvSpPr txBox="1"/>
          <p:nvPr/>
        </p:nvSpPr>
        <p:spPr>
          <a:xfrm>
            <a:off x="3074994" y="5615551"/>
            <a:ext cx="185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Happy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DCE7CF64-6305-0B1A-3B3D-47BF07BA70F3}"/>
              </a:ext>
            </a:extLst>
          </p:cNvPr>
          <p:cNvSpPr/>
          <p:nvPr/>
        </p:nvSpPr>
        <p:spPr>
          <a:xfrm>
            <a:off x="3720746" y="4273513"/>
            <a:ext cx="587828" cy="57416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66D653C-463F-BDCA-8132-8F911F544F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6393" y="4955395"/>
            <a:ext cx="1351945" cy="774710"/>
          </a:xfrm>
          <a:prstGeom prst="rect">
            <a:avLst/>
          </a:prstGeom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D2C05BAB-0F84-0709-809D-EB1DF48BEBA6}"/>
              </a:ext>
            </a:extLst>
          </p:cNvPr>
          <p:cNvSpPr txBox="1"/>
          <p:nvPr/>
        </p:nvSpPr>
        <p:spPr>
          <a:xfrm>
            <a:off x="5696094" y="5615551"/>
            <a:ext cx="185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Happy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FC2BBB38-B51F-FB35-8B85-A61C045F6F4E}"/>
              </a:ext>
            </a:extLst>
          </p:cNvPr>
          <p:cNvSpPr/>
          <p:nvPr/>
        </p:nvSpPr>
        <p:spPr>
          <a:xfrm>
            <a:off x="6341846" y="4273513"/>
            <a:ext cx="587828" cy="57416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0" name="Text Box 1">
            <a:extLst>
              <a:ext uri="{FF2B5EF4-FFF2-40B4-BE49-F238E27FC236}">
                <a16:creationId xmlns:a16="http://schemas.microsoft.com/office/drawing/2014/main" id="{D01DFD28-BABC-D5EC-777A-C9BB5A8FED40}"/>
              </a:ext>
            </a:extLst>
          </p:cNvPr>
          <p:cNvSpPr txBox="1"/>
          <p:nvPr/>
        </p:nvSpPr>
        <p:spPr>
          <a:xfrm>
            <a:off x="7684989" y="2057865"/>
            <a:ext cx="41767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Aptos Black" panose="020B0004020202020204" pitchFamily="34" charset="0"/>
                <a:sym typeface="+mn-ea"/>
              </a:rPr>
              <a:t>Many emotion recognition systems are trained on single-modality, limiting modal performance.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A8C993E-ABA2-9CB5-4104-F77D884451F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9" t="22060" r="53142" b="24430"/>
          <a:stretch>
            <a:fillRect/>
          </a:stretch>
        </p:blipFill>
        <p:spPr>
          <a:xfrm>
            <a:off x="1555956" y="3646802"/>
            <a:ext cx="681135" cy="59600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F1E9DF4-D8A5-04F4-974F-56228B3C775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9" t="22060" r="53142" b="24430"/>
          <a:stretch>
            <a:fillRect/>
          </a:stretch>
        </p:blipFill>
        <p:spPr>
          <a:xfrm>
            <a:off x="4187182" y="3642874"/>
            <a:ext cx="681135" cy="59600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695BD84-D294-3D0A-483B-E8162B4D39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9" t="22060" r="53142" b="24430"/>
          <a:stretch>
            <a:fillRect/>
          </a:stretch>
        </p:blipFill>
        <p:spPr>
          <a:xfrm>
            <a:off x="6800970" y="3642874"/>
            <a:ext cx="681135" cy="5960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540782-EA5C-98BA-6AE9-701F449BA7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0328" y="3804057"/>
            <a:ext cx="3266028" cy="20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5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EC16-E92F-E924-950A-2D8A1E42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8DDC09-BD6A-1864-F965-64B68D881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4E64D-E8EA-DE9D-4A62-98C3A19C356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316" y="3144418"/>
            <a:ext cx="3250018" cy="325001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AD10999B-90EE-374D-01B1-F05B0B8C1BBD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70B5EA-C0BC-8436-B9FC-219E39F3CDC8}"/>
              </a:ext>
            </a:extLst>
          </p:cNvPr>
          <p:cNvSpPr txBox="1"/>
          <p:nvPr/>
        </p:nvSpPr>
        <p:spPr>
          <a:xfrm>
            <a:off x="510081" y="80263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Multimodal Approach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9755B9-FD3F-DF57-4ABE-C87A005C877C}"/>
              </a:ext>
            </a:extLst>
          </p:cNvPr>
          <p:cNvSpPr txBox="1"/>
          <p:nvPr/>
        </p:nvSpPr>
        <p:spPr>
          <a:xfrm>
            <a:off x="2530431" y="1817566"/>
            <a:ext cx="7199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700" b="1" dirty="0"/>
              <a:t>I love the birthday present so much! Thank you!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B1C3C1C-7D78-98FA-A634-E9B522A3EC8B}"/>
              </a:ext>
            </a:extLst>
          </p:cNvPr>
          <p:cNvGrpSpPr/>
          <p:nvPr/>
        </p:nvGrpSpPr>
        <p:grpSpPr>
          <a:xfrm>
            <a:off x="2700079" y="2332656"/>
            <a:ext cx="6791841" cy="811762"/>
            <a:chOff x="2578781" y="2248679"/>
            <a:chExt cx="6791841" cy="811762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BB4E850-0B3B-5D30-BBF3-73402B034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rcRect l="18513"/>
            <a:stretch>
              <a:fillRect/>
            </a:stretch>
          </p:blipFill>
          <p:spPr>
            <a:xfrm>
              <a:off x="2578781" y="2248679"/>
              <a:ext cx="3472773" cy="811762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5A83EF2-BEF0-1478-B860-BCC97E9DD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rcRect l="21121"/>
            <a:stretch>
              <a:fillRect/>
            </a:stretch>
          </p:blipFill>
          <p:spPr>
            <a:xfrm>
              <a:off x="6008984" y="2248679"/>
              <a:ext cx="3361638" cy="811762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328663E-7E5C-2E11-0EEB-B035F0ADD0E2}"/>
              </a:ext>
            </a:extLst>
          </p:cNvPr>
          <p:cNvGrpSpPr/>
          <p:nvPr/>
        </p:nvGrpSpPr>
        <p:grpSpPr>
          <a:xfrm>
            <a:off x="879773" y="3532052"/>
            <a:ext cx="3393654" cy="461665"/>
            <a:chOff x="721148" y="4100055"/>
            <a:chExt cx="3393654" cy="46166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922FBA-979A-C6C4-D3B6-6988899F828A}"/>
                </a:ext>
              </a:extLst>
            </p:cNvPr>
            <p:cNvSpPr txBox="1"/>
            <p:nvPr/>
          </p:nvSpPr>
          <p:spPr>
            <a:xfrm>
              <a:off x="1149222" y="4100055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Linguistic context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B68017A-AA4A-51E9-0622-D59185543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4142483"/>
              <a:ext cx="428074" cy="36543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D486F39-DC78-1458-7920-C7643033AB6C}"/>
              </a:ext>
            </a:extLst>
          </p:cNvPr>
          <p:cNvGrpSpPr/>
          <p:nvPr/>
        </p:nvGrpSpPr>
        <p:grpSpPr>
          <a:xfrm>
            <a:off x="884867" y="4497357"/>
            <a:ext cx="3388560" cy="461665"/>
            <a:chOff x="726242" y="4562669"/>
            <a:chExt cx="3388560" cy="461665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E584850-6CFC-7901-32AF-6FE3A3202EF0}"/>
                </a:ext>
              </a:extLst>
            </p:cNvPr>
            <p:cNvSpPr txBox="1"/>
            <p:nvPr/>
          </p:nvSpPr>
          <p:spPr>
            <a:xfrm>
              <a:off x="1149222" y="456266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Vocal context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128E9DA-447C-58AF-F8CA-423528EE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6242" y="4610786"/>
              <a:ext cx="428074" cy="36543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7F960DA-9182-B02A-CEE8-A351D3E1E9F4}"/>
              </a:ext>
            </a:extLst>
          </p:cNvPr>
          <p:cNvGrpSpPr/>
          <p:nvPr/>
        </p:nvGrpSpPr>
        <p:grpSpPr>
          <a:xfrm>
            <a:off x="879773" y="5469106"/>
            <a:ext cx="3393654" cy="461665"/>
            <a:chOff x="721148" y="5029399"/>
            <a:chExt cx="3393654" cy="46166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EE8F073-2D60-6B08-BAFA-A9CED9967980}"/>
                </a:ext>
              </a:extLst>
            </p:cNvPr>
            <p:cNvSpPr txBox="1"/>
            <p:nvPr/>
          </p:nvSpPr>
          <p:spPr>
            <a:xfrm>
              <a:off x="1149222" y="502939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Visual context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2778225-9691-332F-4BED-D8600821A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5072451"/>
              <a:ext cx="428074" cy="365430"/>
            </a:xfrm>
            <a:prstGeom prst="rect">
              <a:avLst/>
            </a:prstGeom>
          </p:spPr>
        </p:pic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EB270F3D-2375-5AAE-052F-35240ECDC6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7576" y="1762112"/>
            <a:ext cx="523223" cy="81475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429D283-C2E6-3E5B-FE67-9DA7E68B6BD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7575" y="2395361"/>
            <a:ext cx="523223" cy="81475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9716F57C-E686-E326-0627-8C3E25DA4B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1896" y="4465022"/>
            <a:ext cx="523223" cy="814751"/>
          </a:xfrm>
          <a:prstGeom prst="rect">
            <a:avLst/>
          </a:prstGeom>
        </p:spPr>
      </p:pic>
      <p:pic>
        <p:nvPicPr>
          <p:cNvPr id="2" name="Content Placeholder 3" descr="25-253978_transparent-microscope-clipart-black-and-white-find-icon">
            <a:extLst>
              <a:ext uri="{FF2B5EF4-FFF2-40B4-BE49-F238E27FC236}">
                <a16:creationId xmlns:a16="http://schemas.microsoft.com/office/drawing/2014/main" id="{6A81A6F7-0768-12AC-9156-2A7F3554D81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 flipH="1">
            <a:off x="2308286" y="1736852"/>
            <a:ext cx="783586" cy="871395"/>
          </a:xfrm>
          <a:prstGeom prst="rect">
            <a:avLst/>
          </a:prstGeom>
        </p:spPr>
      </p:pic>
      <p:pic>
        <p:nvPicPr>
          <p:cNvPr id="4" name="Content Placeholder 3" descr="25-253978_transparent-microscope-clipart-black-and-white-find-icon">
            <a:extLst>
              <a:ext uri="{FF2B5EF4-FFF2-40B4-BE49-F238E27FC236}">
                <a16:creationId xmlns:a16="http://schemas.microsoft.com/office/drawing/2014/main" id="{0A09A0EF-D781-D573-D402-F7B2F0120EA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 flipH="1">
            <a:off x="2308286" y="2392503"/>
            <a:ext cx="783586" cy="871395"/>
          </a:xfrm>
          <a:prstGeom prst="rect">
            <a:avLst/>
          </a:prstGeom>
        </p:spPr>
      </p:pic>
      <p:pic>
        <p:nvPicPr>
          <p:cNvPr id="5" name="Content Placeholder 3" descr="25-253978_transparent-microscope-clipart-black-and-white-find-icon">
            <a:extLst>
              <a:ext uri="{FF2B5EF4-FFF2-40B4-BE49-F238E27FC236}">
                <a16:creationId xmlns:a16="http://schemas.microsoft.com/office/drawing/2014/main" id="{5BEE487E-E0B8-081E-F5D7-15570852A38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 flipH="1">
            <a:off x="6532312" y="3613806"/>
            <a:ext cx="2559137" cy="284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4.375E-6 3.33333E-6 L 0.54076 3.33333E-6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9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1.48148E-6 L 0.54076 1.48148E-6 " pathEditMode="relative" rAng="0" ptsTypes="AA">
                                      <p:cBhvr>
                                        <p:cTn id="2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0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"/>
                            </p:stCondLst>
                            <p:childTnLst>
                              <p:par>
                                <p:cTn id="42" presetID="32" presetClass="emph" presetSubtype="0" repeatCount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" fill="hold">
                                          <p:stCondLst>
                                            <p:cond delay="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" fill="hold">
                                          <p:stCondLst>
                                            <p:cond delay="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B9C0-F70B-5423-FA03-8B12F3E9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B96C0D-FE5B-EC92-B96D-0DC45DEE1A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0ECCCB5-761A-5650-87A9-9A5439E006FD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422D12-ECFE-7A92-7BAC-9E066D0B8D82}"/>
              </a:ext>
            </a:extLst>
          </p:cNvPr>
          <p:cNvSpPr txBox="1"/>
          <p:nvPr/>
        </p:nvSpPr>
        <p:spPr>
          <a:xfrm>
            <a:off x="510081" y="80263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Multimodal Approach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E6B7957-59A4-6263-A602-C4710F054D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316" y="3144418"/>
            <a:ext cx="3250018" cy="325001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C8A4443-BCFC-3100-5B80-A27221E8C0DD}"/>
              </a:ext>
            </a:extLst>
          </p:cNvPr>
          <p:cNvSpPr txBox="1"/>
          <p:nvPr/>
        </p:nvSpPr>
        <p:spPr>
          <a:xfrm>
            <a:off x="2530431" y="1817566"/>
            <a:ext cx="7199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700" b="1" dirty="0"/>
              <a:t>I love the birthday present so much! Thank you!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EABFDBD-70C1-3689-997E-84BFE29D3B98}"/>
              </a:ext>
            </a:extLst>
          </p:cNvPr>
          <p:cNvGrpSpPr/>
          <p:nvPr/>
        </p:nvGrpSpPr>
        <p:grpSpPr>
          <a:xfrm>
            <a:off x="2700079" y="2332656"/>
            <a:ext cx="6791841" cy="811762"/>
            <a:chOff x="2578781" y="2248679"/>
            <a:chExt cx="6791841" cy="811762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CAC25DE-6516-FC09-93ED-ADB7E6DDB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rcRect l="18513"/>
            <a:stretch>
              <a:fillRect/>
            </a:stretch>
          </p:blipFill>
          <p:spPr>
            <a:xfrm>
              <a:off x="2578781" y="2248679"/>
              <a:ext cx="3472773" cy="811762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9897B9D-D31A-664A-D4DB-50D328EB1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</a:blip>
            <a:srcRect l="21121"/>
            <a:stretch>
              <a:fillRect/>
            </a:stretch>
          </p:blipFill>
          <p:spPr>
            <a:xfrm>
              <a:off x="6008984" y="2248679"/>
              <a:ext cx="3361638" cy="811762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3C39C61-032A-2AC3-8281-2F365E96CECB}"/>
              </a:ext>
            </a:extLst>
          </p:cNvPr>
          <p:cNvGrpSpPr/>
          <p:nvPr/>
        </p:nvGrpSpPr>
        <p:grpSpPr>
          <a:xfrm>
            <a:off x="879773" y="3532052"/>
            <a:ext cx="3393654" cy="461665"/>
            <a:chOff x="721148" y="4100055"/>
            <a:chExt cx="3393654" cy="46166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9661DEF-9AD5-988A-E36D-0835E73A1467}"/>
                </a:ext>
              </a:extLst>
            </p:cNvPr>
            <p:cNvSpPr txBox="1"/>
            <p:nvPr/>
          </p:nvSpPr>
          <p:spPr>
            <a:xfrm>
              <a:off x="1149222" y="4100055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Linguistic context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4DDFEE4-3744-7216-8101-D9DF170D4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4142483"/>
              <a:ext cx="428074" cy="36543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9CD83F1-A2D7-C92A-73F5-6E3A23BC9E16}"/>
              </a:ext>
            </a:extLst>
          </p:cNvPr>
          <p:cNvGrpSpPr/>
          <p:nvPr/>
        </p:nvGrpSpPr>
        <p:grpSpPr>
          <a:xfrm>
            <a:off x="884867" y="4497357"/>
            <a:ext cx="3388560" cy="461665"/>
            <a:chOff x="726242" y="4562669"/>
            <a:chExt cx="3388560" cy="461665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CD8359-0ECD-C0AF-43AF-0F84012ECD00}"/>
                </a:ext>
              </a:extLst>
            </p:cNvPr>
            <p:cNvSpPr txBox="1"/>
            <p:nvPr/>
          </p:nvSpPr>
          <p:spPr>
            <a:xfrm>
              <a:off x="1149222" y="456266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Vocal context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FF6C864-0789-FCB8-9870-0A0B7C6D9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6242" y="4610786"/>
              <a:ext cx="428074" cy="36543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F51C5C4-C326-C200-D3D3-FFE0931D373D}"/>
              </a:ext>
            </a:extLst>
          </p:cNvPr>
          <p:cNvGrpSpPr/>
          <p:nvPr/>
        </p:nvGrpSpPr>
        <p:grpSpPr>
          <a:xfrm>
            <a:off x="879773" y="5469106"/>
            <a:ext cx="3393654" cy="461665"/>
            <a:chOff x="721148" y="5029399"/>
            <a:chExt cx="3393654" cy="46166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832822C-B090-2423-F565-C71902F90150}"/>
                </a:ext>
              </a:extLst>
            </p:cNvPr>
            <p:cNvSpPr txBox="1"/>
            <p:nvPr/>
          </p:nvSpPr>
          <p:spPr>
            <a:xfrm>
              <a:off x="1149222" y="502939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Visual context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667D311-5B6F-9FCA-B5FE-46B5EBB08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5072451"/>
              <a:ext cx="428074" cy="365430"/>
            </a:xfrm>
            <a:prstGeom prst="rect">
              <a:avLst/>
            </a:prstGeom>
          </p:spPr>
        </p:pic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F864138F-0332-82F7-0EEE-C6B9F71DC9A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7582" y="1762112"/>
            <a:ext cx="523223" cy="81475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B9D3159-48FE-6BD6-7638-2035DECEAE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7581" y="2395361"/>
            <a:ext cx="523223" cy="81475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92AEFDA-E3F0-578C-C195-5505B115684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911892" y="4465022"/>
            <a:ext cx="523223" cy="814751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8A8529BA-3D88-2DED-6DFA-5A15EF320200}"/>
              </a:ext>
            </a:extLst>
          </p:cNvPr>
          <p:cNvSpPr/>
          <p:nvPr/>
        </p:nvSpPr>
        <p:spPr>
          <a:xfrm>
            <a:off x="2022979" y="3958794"/>
            <a:ext cx="567043" cy="56704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BBAE9256-54B4-DFAA-FE5C-4FC6883F2C7B}"/>
              </a:ext>
            </a:extLst>
          </p:cNvPr>
          <p:cNvSpPr/>
          <p:nvPr/>
        </p:nvSpPr>
        <p:spPr>
          <a:xfrm>
            <a:off x="2022978" y="4952579"/>
            <a:ext cx="567043" cy="56704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B39DE0-6395-34F2-22F2-6F4B9F30D360}"/>
              </a:ext>
            </a:extLst>
          </p:cNvPr>
          <p:cNvGrpSpPr/>
          <p:nvPr/>
        </p:nvGrpSpPr>
        <p:grpSpPr>
          <a:xfrm>
            <a:off x="4129364" y="3579801"/>
            <a:ext cx="2501952" cy="2356291"/>
            <a:chOff x="4129364" y="3579801"/>
            <a:chExt cx="2501952" cy="235629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A175228-3237-CB00-1293-6CD7536ED230}"/>
                </a:ext>
              </a:extLst>
            </p:cNvPr>
            <p:cNvSpPr/>
            <p:nvPr/>
          </p:nvSpPr>
          <p:spPr>
            <a:xfrm>
              <a:off x="4129364" y="3579801"/>
              <a:ext cx="553611" cy="2356291"/>
            </a:xfrm>
            <a:prstGeom prst="rightBrace">
              <a:avLst>
                <a:gd name="adj1" fmla="val 36985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BFB861-3035-4030-70E0-EC665C0F4BDB}"/>
                </a:ext>
              </a:extLst>
            </p:cNvPr>
            <p:cNvSpPr txBox="1"/>
            <p:nvPr/>
          </p:nvSpPr>
          <p:spPr>
            <a:xfrm>
              <a:off x="4658578" y="3984597"/>
              <a:ext cx="197273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2400" b="1" dirty="0">
                  <a:latin typeface="Aptos Black" panose="020B0004020202020204" pitchFamily="34" charset="0"/>
                </a:rPr>
                <a:t>Multimodal Emotion Recognition Model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EC3331D-B51E-3480-FBA8-6B3E13178A1E}"/>
              </a:ext>
            </a:extLst>
          </p:cNvPr>
          <p:cNvSpPr/>
          <p:nvPr/>
        </p:nvSpPr>
        <p:spPr>
          <a:xfrm>
            <a:off x="793102" y="3484986"/>
            <a:ext cx="3270947" cy="25332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752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A895-64E1-3CAF-5A73-5369C796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FD655-6734-CCC5-4A9B-2D7CC1D11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992641E-1A0D-8994-6F49-FEF1F6CCC653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3D4F68-D69B-7879-392E-1D45D413379A}"/>
              </a:ext>
            </a:extLst>
          </p:cNvPr>
          <p:cNvSpPr txBox="1"/>
          <p:nvPr/>
        </p:nvSpPr>
        <p:spPr>
          <a:xfrm>
            <a:off x="510081" y="80263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Ensemble Methods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4A5EEA-2120-1CFD-E390-7F0B279B3ED7}"/>
              </a:ext>
            </a:extLst>
          </p:cNvPr>
          <p:cNvGrpSpPr/>
          <p:nvPr/>
        </p:nvGrpSpPr>
        <p:grpSpPr>
          <a:xfrm>
            <a:off x="879773" y="3532052"/>
            <a:ext cx="3393654" cy="461665"/>
            <a:chOff x="721148" y="4100055"/>
            <a:chExt cx="3393654" cy="46166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3AD649-7EEF-D294-01EE-6AC4A7D9013F}"/>
                </a:ext>
              </a:extLst>
            </p:cNvPr>
            <p:cNvSpPr txBox="1"/>
            <p:nvPr/>
          </p:nvSpPr>
          <p:spPr>
            <a:xfrm>
              <a:off x="1149222" y="4100055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Linguistic context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8E74C53-F487-81B3-3A1D-9C42849B7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4142483"/>
              <a:ext cx="428074" cy="36543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36B3A6B-5292-87BC-4534-09ACDB696648}"/>
              </a:ext>
            </a:extLst>
          </p:cNvPr>
          <p:cNvGrpSpPr/>
          <p:nvPr/>
        </p:nvGrpSpPr>
        <p:grpSpPr>
          <a:xfrm>
            <a:off x="884867" y="4497357"/>
            <a:ext cx="3388560" cy="461665"/>
            <a:chOff x="726242" y="4562669"/>
            <a:chExt cx="3388560" cy="461665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2FF601A-E910-8B1F-76CD-C94AF032D7DC}"/>
                </a:ext>
              </a:extLst>
            </p:cNvPr>
            <p:cNvSpPr txBox="1"/>
            <p:nvPr/>
          </p:nvSpPr>
          <p:spPr>
            <a:xfrm>
              <a:off x="1149222" y="456266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Vocal context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7D9D9D3-2711-32B1-21DF-5F889941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6242" y="4610786"/>
              <a:ext cx="428074" cy="36543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0FB71E3-E7FB-0DDF-21D1-182B4C439E9D}"/>
              </a:ext>
            </a:extLst>
          </p:cNvPr>
          <p:cNvGrpSpPr/>
          <p:nvPr/>
        </p:nvGrpSpPr>
        <p:grpSpPr>
          <a:xfrm>
            <a:off x="879773" y="5469106"/>
            <a:ext cx="3393654" cy="461665"/>
            <a:chOff x="721148" y="5029399"/>
            <a:chExt cx="3393654" cy="46166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43527B5-8E52-3969-5958-7CB4715F8FF4}"/>
                </a:ext>
              </a:extLst>
            </p:cNvPr>
            <p:cNvSpPr txBox="1"/>
            <p:nvPr/>
          </p:nvSpPr>
          <p:spPr>
            <a:xfrm>
              <a:off x="1149222" y="5029399"/>
              <a:ext cx="29655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b="1" dirty="0">
                  <a:latin typeface="Aptos Black" panose="020B0004020202020204" pitchFamily="34" charset="0"/>
                </a:rPr>
                <a:t>Visual context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AC0D8FB-6663-A552-9C69-98614E02F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9" t="21630" r="52935" b="24670"/>
            <a:stretch>
              <a:fillRect/>
            </a:stretch>
          </p:blipFill>
          <p:spPr>
            <a:xfrm>
              <a:off x="721148" y="5072451"/>
              <a:ext cx="428074" cy="365430"/>
            </a:xfrm>
            <a:prstGeom prst="rect">
              <a:avLst/>
            </a:prstGeom>
          </p:spPr>
        </p:pic>
      </p:grpSp>
      <p:sp>
        <p:nvSpPr>
          <p:cNvPr id="91" name="Plus Sign 90">
            <a:extLst>
              <a:ext uri="{FF2B5EF4-FFF2-40B4-BE49-F238E27FC236}">
                <a16:creationId xmlns:a16="http://schemas.microsoft.com/office/drawing/2014/main" id="{BE57BA8C-3A47-1F28-DC16-720441F7A26B}"/>
              </a:ext>
            </a:extLst>
          </p:cNvPr>
          <p:cNvSpPr/>
          <p:nvPr/>
        </p:nvSpPr>
        <p:spPr>
          <a:xfrm>
            <a:off x="2022979" y="3958794"/>
            <a:ext cx="567043" cy="56704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2" name="Plus Sign 91">
            <a:extLst>
              <a:ext uri="{FF2B5EF4-FFF2-40B4-BE49-F238E27FC236}">
                <a16:creationId xmlns:a16="http://schemas.microsoft.com/office/drawing/2014/main" id="{C639E1B1-C430-6D57-B5BD-F5024E7D677B}"/>
              </a:ext>
            </a:extLst>
          </p:cNvPr>
          <p:cNvSpPr/>
          <p:nvPr/>
        </p:nvSpPr>
        <p:spPr>
          <a:xfrm>
            <a:off x="2022978" y="4952579"/>
            <a:ext cx="567043" cy="56704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42C3C7E-DD1B-86DD-BB44-8F4234F30A92}"/>
              </a:ext>
            </a:extLst>
          </p:cNvPr>
          <p:cNvSpPr/>
          <p:nvPr/>
        </p:nvSpPr>
        <p:spPr>
          <a:xfrm>
            <a:off x="4129364" y="3579801"/>
            <a:ext cx="553611" cy="2356291"/>
          </a:xfrm>
          <a:prstGeom prst="rightBrace">
            <a:avLst>
              <a:gd name="adj1" fmla="val 3698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E2897565-1B93-3247-8D36-D6657FBCC380}"/>
              </a:ext>
            </a:extLst>
          </p:cNvPr>
          <p:cNvSpPr txBox="1"/>
          <p:nvPr/>
        </p:nvSpPr>
        <p:spPr>
          <a:xfrm>
            <a:off x="4650102" y="4279128"/>
            <a:ext cx="18999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altLang="zh-CN" sz="2800" b="1" dirty="0">
                <a:latin typeface="Aptos Black" panose="020B0004020202020204" pitchFamily="34" charset="0"/>
                <a:sym typeface="+mn-ea"/>
              </a:rPr>
              <a:t>Ensemble Methods</a:t>
            </a:r>
            <a:endParaRPr lang="en-US" sz="2800" b="1" dirty="0">
              <a:latin typeface="Aptos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58F2C-7587-DC8B-3C9C-4C0311E9A9EB}"/>
              </a:ext>
            </a:extLst>
          </p:cNvPr>
          <p:cNvSpPr txBox="1"/>
          <p:nvPr/>
        </p:nvSpPr>
        <p:spPr>
          <a:xfrm>
            <a:off x="9503230" y="3675653"/>
            <a:ext cx="1899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Aptos Black" panose="020B0004020202020204" pitchFamily="34" charset="0"/>
              </a:rPr>
              <a:t>Hard Voting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10797-39EF-E07C-1135-E7DA61B8570A}"/>
              </a:ext>
            </a:extLst>
          </p:cNvPr>
          <p:cNvSpPr txBox="1"/>
          <p:nvPr/>
        </p:nvSpPr>
        <p:spPr>
          <a:xfrm>
            <a:off x="9503230" y="4236102"/>
            <a:ext cx="1899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Aptos Black" panose="020B0004020202020204" pitchFamily="34" charset="0"/>
              </a:rPr>
              <a:t>Soft Voting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7975E-B30F-D6F8-2863-015A6F83CE5C}"/>
              </a:ext>
            </a:extLst>
          </p:cNvPr>
          <p:cNvSpPr txBox="1"/>
          <p:nvPr/>
        </p:nvSpPr>
        <p:spPr>
          <a:xfrm>
            <a:off x="9503230" y="4796551"/>
            <a:ext cx="1899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Aptos Black" panose="020B0004020202020204" pitchFamily="34" charset="0"/>
              </a:rPr>
              <a:t>Stacking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19A53-F6A4-70A1-E4DF-4396683E7AA9}"/>
              </a:ext>
            </a:extLst>
          </p:cNvPr>
          <p:cNvSpPr txBox="1"/>
          <p:nvPr/>
        </p:nvSpPr>
        <p:spPr>
          <a:xfrm>
            <a:off x="9503230" y="5354533"/>
            <a:ext cx="1899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Aptos Black" panose="020B0004020202020204" pitchFamily="34" charset="0"/>
              </a:rPr>
              <a:t>AdaBoost</a:t>
            </a:r>
            <a:r>
              <a:rPr lang="en-MY" sz="2400" b="1" baseline="30000" dirty="0">
                <a:latin typeface="Aptos Black" panose="020B0004020202020204" pitchFamily="34" charset="0"/>
              </a:rPr>
              <a:t>*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4D638EB-E989-B3D4-C3C3-6DE3EDC8121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550096" y="3906486"/>
            <a:ext cx="2953134" cy="849696"/>
          </a:xfrm>
          <a:prstGeom prst="bentConnector3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25FE9B0-50D7-B787-6C74-CBEF5F19693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6550096" y="4756182"/>
            <a:ext cx="2953134" cy="829184"/>
          </a:xfrm>
          <a:prstGeom prst="bentConnector3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1EF83D2-F754-6AB3-B09E-4AB6E6D6082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6550096" y="4466935"/>
            <a:ext cx="2953134" cy="289247"/>
          </a:xfrm>
          <a:prstGeom prst="bentConnector3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7655548-4367-A059-2DA9-BC5771CDF61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6550096" y="4756182"/>
            <a:ext cx="2953134" cy="271202"/>
          </a:xfrm>
          <a:prstGeom prst="bentConnector3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8F7E47-EB1F-9EF7-1235-7DE2FAC564A2}"/>
              </a:ext>
            </a:extLst>
          </p:cNvPr>
          <p:cNvGrpSpPr/>
          <p:nvPr/>
        </p:nvGrpSpPr>
        <p:grpSpPr>
          <a:xfrm>
            <a:off x="2814389" y="1853690"/>
            <a:ext cx="7935338" cy="2422395"/>
            <a:chOff x="2814389" y="1853690"/>
            <a:chExt cx="7935338" cy="2422395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E75AF6D-2388-CF75-C09C-A411A6689194}"/>
                </a:ext>
              </a:extLst>
            </p:cNvPr>
            <p:cNvSpPr/>
            <p:nvPr/>
          </p:nvSpPr>
          <p:spPr>
            <a:xfrm rot="16200000" flipV="1">
              <a:off x="5618946" y="3477755"/>
              <a:ext cx="954107" cy="64255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Text Box 1">
              <a:extLst>
                <a:ext uri="{FF2B5EF4-FFF2-40B4-BE49-F238E27FC236}">
                  <a16:creationId xmlns:a16="http://schemas.microsoft.com/office/drawing/2014/main" id="{780BB281-F4F7-3785-E3BC-091892C22AD8}"/>
                </a:ext>
              </a:extLst>
            </p:cNvPr>
            <p:cNvSpPr txBox="1"/>
            <p:nvPr/>
          </p:nvSpPr>
          <p:spPr>
            <a:xfrm>
              <a:off x="2814389" y="1866343"/>
              <a:ext cx="2800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MY" sz="4000" b="1" dirty="0">
                  <a:latin typeface="Aptos Black" panose="020B0004020202020204" pitchFamily="34" charset="0"/>
                  <a:sym typeface="+mn-ea"/>
                </a:rPr>
                <a:t>Noise </a:t>
              </a:r>
              <a:br>
                <a:rPr lang="en-MY" sz="4000" b="1" dirty="0">
                  <a:latin typeface="Aptos Black" panose="020B0004020202020204" pitchFamily="34" charset="0"/>
                  <a:sym typeface="+mn-ea"/>
                </a:rPr>
              </a:br>
              <a:r>
                <a:rPr lang="en-MY" sz="4000" b="1" dirty="0">
                  <a:latin typeface="Aptos Black" panose="020B0004020202020204" pitchFamily="34" charset="0"/>
                  <a:sym typeface="+mn-ea"/>
                </a:rPr>
                <a:t>Reduction</a:t>
              </a:r>
              <a:endParaRPr lang="en-US" sz="4000" b="1" dirty="0">
                <a:latin typeface="Aptos Black" panose="020B0004020202020204" pitchFamily="34" charset="0"/>
              </a:endParaRPr>
            </a:p>
          </p:txBody>
        </p:sp>
        <p:sp>
          <p:nvSpPr>
            <p:cNvPr id="23" name="Text Box 1">
              <a:extLst>
                <a:ext uri="{FF2B5EF4-FFF2-40B4-BE49-F238E27FC236}">
                  <a16:creationId xmlns:a16="http://schemas.microsoft.com/office/drawing/2014/main" id="{695FC865-3578-703F-3090-284FDE0EA4D1}"/>
                </a:ext>
              </a:extLst>
            </p:cNvPr>
            <p:cNvSpPr txBox="1"/>
            <p:nvPr/>
          </p:nvSpPr>
          <p:spPr>
            <a:xfrm>
              <a:off x="6521575" y="1853690"/>
              <a:ext cx="422815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MY" sz="4000" b="1" dirty="0">
                  <a:latin typeface="Aptos Black" panose="020B0004020202020204" pitchFamily="34" charset="0"/>
                  <a:sym typeface="+mn-ea"/>
                </a:rPr>
                <a:t>Enhanced Generalizability</a:t>
              </a:r>
              <a:endParaRPr lang="en-US" sz="4000" b="1" dirty="0">
                <a:latin typeface="Aptos Black" panose="020B0004020202020204" pitchFamily="34" charset="0"/>
              </a:endParaRPr>
            </a:p>
          </p:txBody>
        </p:sp>
        <p:sp>
          <p:nvSpPr>
            <p:cNvPr id="24" name="Plus Sign 23">
              <a:extLst>
                <a:ext uri="{FF2B5EF4-FFF2-40B4-BE49-F238E27FC236}">
                  <a16:creationId xmlns:a16="http://schemas.microsoft.com/office/drawing/2014/main" id="{A0A2063D-754F-BC01-F3FE-7B8092AA75D7}"/>
                </a:ext>
              </a:extLst>
            </p:cNvPr>
            <p:cNvSpPr/>
            <p:nvPr/>
          </p:nvSpPr>
          <p:spPr>
            <a:xfrm>
              <a:off x="5643806" y="2063383"/>
              <a:ext cx="877769" cy="877769"/>
            </a:xfrm>
            <a:prstGeom prst="mathPlu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154F4C1-EA70-9055-F5DA-188ED20B7799}"/>
              </a:ext>
            </a:extLst>
          </p:cNvPr>
          <p:cNvSpPr txBox="1"/>
          <p:nvPr/>
        </p:nvSpPr>
        <p:spPr>
          <a:xfrm>
            <a:off x="9331" y="6303397"/>
            <a:ext cx="81723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*AdaBoost </a:t>
            </a:r>
            <a:r>
              <a:rPr lang="en-MY" sz="1000" dirty="0">
                <a:sym typeface="Wingdings" panose="05000000000000000000" pitchFamily="2" charset="2"/>
              </a:rPr>
              <a:t> </a:t>
            </a:r>
            <a:r>
              <a:rPr lang="en-MY" sz="1000" dirty="0"/>
              <a:t>Adaptive Boosting</a:t>
            </a:r>
          </a:p>
        </p:txBody>
      </p:sp>
    </p:spTree>
    <p:extLst>
      <p:ext uri="{BB962C8B-B14F-4D97-AF65-F5344CB8AC3E}">
        <p14:creationId xmlns:p14="http://schemas.microsoft.com/office/powerpoint/2010/main" val="164622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9FD75-9478-8955-5375-2E5D8F32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C90C2-B166-FA63-4F74-56703A811C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69A920-17CA-3720-3738-69A3D08B0DDB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7B88B74F-88F2-F535-A03E-C623F1E829C1}"/>
              </a:ext>
            </a:extLst>
          </p:cNvPr>
          <p:cNvSpPr txBox="1"/>
          <p:nvPr/>
        </p:nvSpPr>
        <p:spPr>
          <a:xfrm>
            <a:off x="0" y="1959208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Single Modality Approach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1AA89A0F-B1B3-FAF4-C8FD-8B052FFA087D}"/>
              </a:ext>
            </a:extLst>
          </p:cNvPr>
          <p:cNvSpPr txBox="1"/>
          <p:nvPr/>
        </p:nvSpPr>
        <p:spPr>
          <a:xfrm>
            <a:off x="1" y="4634461"/>
            <a:ext cx="12191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Ensemble Methods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6" name="Text Box 1">
            <a:extLst>
              <a:ext uri="{FF2B5EF4-FFF2-40B4-BE49-F238E27FC236}">
                <a16:creationId xmlns:a16="http://schemas.microsoft.com/office/drawing/2014/main" id="{5C9A54E5-2CCB-242D-821D-C55C41A1CBB7}"/>
              </a:ext>
            </a:extLst>
          </p:cNvPr>
          <p:cNvSpPr txBox="1"/>
          <p:nvPr/>
        </p:nvSpPr>
        <p:spPr>
          <a:xfrm>
            <a:off x="0" y="3287363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Multimodal Approach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0CE599-98EC-82D2-6DAE-2FF00DECFE5B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Investigation</a:t>
            </a:r>
          </a:p>
        </p:txBody>
      </p:sp>
      <p:sp>
        <p:nvSpPr>
          <p:cNvPr id="28" name="Text Box 1">
            <a:extLst>
              <a:ext uri="{FF2B5EF4-FFF2-40B4-BE49-F238E27FC236}">
                <a16:creationId xmlns:a16="http://schemas.microsoft.com/office/drawing/2014/main" id="{90B3C493-FACA-25BB-5D3E-745E291EDCD5}"/>
              </a:ext>
            </a:extLst>
          </p:cNvPr>
          <p:cNvSpPr txBox="1"/>
          <p:nvPr/>
        </p:nvSpPr>
        <p:spPr>
          <a:xfrm>
            <a:off x="0" y="24183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ym typeface="+mn-ea"/>
              </a:rPr>
              <a:t>To compare the performance of single-modality emotion recognition models.</a:t>
            </a:r>
            <a:endParaRPr lang="en-US" sz="2400" b="1" dirty="0"/>
          </a:p>
        </p:txBody>
      </p:sp>
      <p:sp>
        <p:nvSpPr>
          <p:cNvPr id="29" name="Text Box 1">
            <a:extLst>
              <a:ext uri="{FF2B5EF4-FFF2-40B4-BE49-F238E27FC236}">
                <a16:creationId xmlns:a16="http://schemas.microsoft.com/office/drawing/2014/main" id="{D28C8F52-7818-7B6E-C69B-AF8B0C8AB56C}"/>
              </a:ext>
            </a:extLst>
          </p:cNvPr>
          <p:cNvSpPr txBox="1"/>
          <p:nvPr/>
        </p:nvSpPr>
        <p:spPr>
          <a:xfrm>
            <a:off x="-1" y="3741422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ym typeface="+mn-ea"/>
              </a:rPr>
              <a:t>To examine the performance of multimodal emotion recognition models.</a:t>
            </a:r>
            <a:endParaRPr lang="en-US" sz="2400" b="1" dirty="0"/>
          </a:p>
        </p:txBody>
      </p:sp>
      <p:sp>
        <p:nvSpPr>
          <p:cNvPr id="30" name="Text Box 1">
            <a:extLst>
              <a:ext uri="{FF2B5EF4-FFF2-40B4-BE49-F238E27FC236}">
                <a16:creationId xmlns:a16="http://schemas.microsoft.com/office/drawing/2014/main" id="{91668DD3-E30A-D3F5-CBCF-738BD8B1438D}"/>
              </a:ext>
            </a:extLst>
          </p:cNvPr>
          <p:cNvSpPr txBox="1"/>
          <p:nvPr/>
        </p:nvSpPr>
        <p:spPr>
          <a:xfrm>
            <a:off x="0" y="5091237"/>
            <a:ext cx="1219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ym typeface="+mn-ea"/>
              </a:rPr>
              <a:t>To assess the effectiveness of ensemble methods for combining multimodal data.</a:t>
            </a:r>
          </a:p>
        </p:txBody>
      </p:sp>
    </p:spTree>
    <p:extLst>
      <p:ext uri="{BB962C8B-B14F-4D97-AF65-F5344CB8AC3E}">
        <p14:creationId xmlns:p14="http://schemas.microsoft.com/office/powerpoint/2010/main" val="2826559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449C"/>
          </a:solidFill>
          <a:ln>
            <a:solidFill>
              <a:srgbClr val="1544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61109" y="2967335"/>
            <a:ext cx="1106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Related Work</a:t>
            </a:r>
            <a:endParaRPr lang="en-SG" sz="540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Black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D802E-F5BE-E41C-3CF8-C8E399D3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568CB3-CEA5-542C-CF5F-A518CABB1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D31726-1E9E-4465-A22F-3ACDA13B58EF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64182-9E45-EE55-A839-4AE2F2CE686E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Previous Studies: Single Modality Approach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EFFF44-65D8-9943-23E3-886A65D9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250405"/>
              </p:ext>
            </p:extLst>
          </p:nvPr>
        </p:nvGraphicFramePr>
        <p:xfrm>
          <a:off x="1995953" y="1914796"/>
          <a:ext cx="9114494" cy="385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370">
                  <a:extLst>
                    <a:ext uri="{9D8B030D-6E8A-4147-A177-3AD203B41FA5}">
                      <a16:colId xmlns:a16="http://schemas.microsoft.com/office/drawing/2014/main" val="1819819910"/>
                    </a:ext>
                  </a:extLst>
                </a:gridCol>
                <a:gridCol w="2139026">
                  <a:extLst>
                    <a:ext uri="{9D8B030D-6E8A-4147-A177-3AD203B41FA5}">
                      <a16:colId xmlns:a16="http://schemas.microsoft.com/office/drawing/2014/main" val="2224354713"/>
                    </a:ext>
                  </a:extLst>
                </a:gridCol>
                <a:gridCol w="2230017">
                  <a:extLst>
                    <a:ext uri="{9D8B030D-6E8A-4147-A177-3AD203B41FA5}">
                      <a16:colId xmlns:a16="http://schemas.microsoft.com/office/drawing/2014/main" val="669046995"/>
                    </a:ext>
                  </a:extLst>
                </a:gridCol>
                <a:gridCol w="2006081">
                  <a:extLst>
                    <a:ext uri="{9D8B030D-6E8A-4147-A177-3AD203B41FA5}">
                      <a16:colId xmlns:a16="http://schemas.microsoft.com/office/drawing/2014/main" val="53931767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435252296"/>
                    </a:ext>
                  </a:extLst>
                </a:gridCol>
              </a:tblGrid>
              <a:tr h="4280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Ref.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Modality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Result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6675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[19]</a:t>
                      </a:r>
                      <a:endParaRPr lang="en-SG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Text-based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Traditional ML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0.6408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1155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[20]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0.9060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20257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[21]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ROC-AUC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0.9900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29653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[23]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0.9747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85515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[24]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0.9948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331611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[25]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0.6620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69569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[26]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0.9850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709850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[27]</a:t>
                      </a: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Visual-based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0.9600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7880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614497A0-4A39-36D4-D732-D261DCDC96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1284204" y="3092664"/>
            <a:ext cx="523223" cy="814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3D1932-C25E-0EA2-1038-A2AB2EB916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1284203" y="3963522"/>
            <a:ext cx="523223" cy="814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3AD930-73C7-79DD-2047-A720B8E6E6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1284203" y="4784614"/>
            <a:ext cx="523223" cy="8147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EE4367-5F06-D17D-4839-43033EDC50FC}"/>
              </a:ext>
            </a:extLst>
          </p:cNvPr>
          <p:cNvSpPr/>
          <p:nvPr/>
        </p:nvSpPr>
        <p:spPr>
          <a:xfrm>
            <a:off x="2929813" y="1914796"/>
            <a:ext cx="2155372" cy="385233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 Box 1">
            <a:extLst>
              <a:ext uri="{FF2B5EF4-FFF2-40B4-BE49-F238E27FC236}">
                <a16:creationId xmlns:a16="http://schemas.microsoft.com/office/drawing/2014/main" id="{3D9A085A-BA71-09FE-B5B0-856C7DC98C9B}"/>
              </a:ext>
            </a:extLst>
          </p:cNvPr>
          <p:cNvSpPr txBox="1"/>
          <p:nvPr/>
        </p:nvSpPr>
        <p:spPr>
          <a:xfrm>
            <a:off x="3119197" y="2458837"/>
            <a:ext cx="17766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sz="20000" b="1" dirty="0">
                <a:solidFill>
                  <a:srgbClr val="FF0000">
                    <a:alpha val="50000"/>
                  </a:srgbClr>
                </a:solidFill>
                <a:latin typeface="Aptos Black" panose="020B0004020202020204" pitchFamily="34" charset="0"/>
                <a:sym typeface="+mn-ea"/>
              </a:rPr>
              <a:t>?</a:t>
            </a:r>
            <a:endParaRPr lang="en-US" sz="20000" b="1" dirty="0">
              <a:solidFill>
                <a:srgbClr val="FF0000">
                  <a:alpha val="50000"/>
                </a:srgbClr>
              </a:solidFill>
              <a:latin typeface="Aptos Black" panose="020B00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88C226-5197-11AD-FBDB-0F9D7CC399A7}"/>
              </a:ext>
            </a:extLst>
          </p:cNvPr>
          <p:cNvGrpSpPr/>
          <p:nvPr/>
        </p:nvGrpSpPr>
        <p:grpSpPr>
          <a:xfrm>
            <a:off x="238809" y="2357970"/>
            <a:ext cx="1662451" cy="1271637"/>
            <a:chOff x="238809" y="2357970"/>
            <a:chExt cx="1662451" cy="1271637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10A5F7FB-DFBC-1D8C-356A-E5E5EAC46FA4}"/>
                </a:ext>
              </a:extLst>
            </p:cNvPr>
            <p:cNvSpPr/>
            <p:nvPr/>
          </p:nvSpPr>
          <p:spPr>
            <a:xfrm flipH="1">
              <a:off x="1598583" y="2357970"/>
              <a:ext cx="302677" cy="1271637"/>
            </a:xfrm>
            <a:prstGeom prst="rightBrace">
              <a:avLst>
                <a:gd name="adj1" fmla="val 36985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535040-A12D-7EB0-4662-BD91D4912D39}"/>
                </a:ext>
              </a:extLst>
            </p:cNvPr>
            <p:cNvSpPr txBox="1"/>
            <p:nvPr/>
          </p:nvSpPr>
          <p:spPr>
            <a:xfrm>
              <a:off x="238809" y="2778344"/>
              <a:ext cx="135977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2100" b="1" dirty="0"/>
                <a:t>Sarcasm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871B56-BB5E-5855-6A94-AD66AB8DB664}"/>
              </a:ext>
            </a:extLst>
          </p:cNvPr>
          <p:cNvGrpSpPr/>
          <p:nvPr/>
        </p:nvGrpSpPr>
        <p:grpSpPr>
          <a:xfrm>
            <a:off x="174030" y="3629607"/>
            <a:ext cx="1727227" cy="865885"/>
            <a:chOff x="174030" y="3629607"/>
            <a:chExt cx="1727227" cy="865885"/>
          </a:xfrm>
        </p:grpSpPr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AA71D808-779C-563B-E37F-2C5C9E8A2F38}"/>
                </a:ext>
              </a:extLst>
            </p:cNvPr>
            <p:cNvSpPr/>
            <p:nvPr/>
          </p:nvSpPr>
          <p:spPr>
            <a:xfrm flipH="1">
              <a:off x="1598580" y="3629607"/>
              <a:ext cx="302677" cy="865885"/>
            </a:xfrm>
            <a:prstGeom prst="rightBrace">
              <a:avLst>
                <a:gd name="adj1" fmla="val 36985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457C48-9E0B-2BAE-6F78-03EF8ED52A32}"/>
                </a:ext>
              </a:extLst>
            </p:cNvPr>
            <p:cNvSpPr txBox="1"/>
            <p:nvPr/>
          </p:nvSpPr>
          <p:spPr>
            <a:xfrm>
              <a:off x="174030" y="3693217"/>
              <a:ext cx="142454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2100" b="1" dirty="0"/>
                <a:t>Speaker Variability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ADDDEC-D2CE-4CDD-BA00-82F509113E65}"/>
              </a:ext>
            </a:extLst>
          </p:cNvPr>
          <p:cNvGrpSpPr/>
          <p:nvPr/>
        </p:nvGrpSpPr>
        <p:grpSpPr>
          <a:xfrm>
            <a:off x="238809" y="4495492"/>
            <a:ext cx="1662450" cy="1271637"/>
            <a:chOff x="238809" y="4495492"/>
            <a:chExt cx="1662450" cy="1271637"/>
          </a:xfrm>
        </p:grpSpPr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EE0E522A-89B7-9C5D-76C7-8B52F5E87B1A}"/>
                </a:ext>
              </a:extLst>
            </p:cNvPr>
            <p:cNvSpPr/>
            <p:nvPr/>
          </p:nvSpPr>
          <p:spPr>
            <a:xfrm flipH="1">
              <a:off x="1598582" y="4495492"/>
              <a:ext cx="302677" cy="1271637"/>
            </a:xfrm>
            <a:prstGeom prst="rightBrace">
              <a:avLst>
                <a:gd name="adj1" fmla="val 36985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932EB6-E1E6-C1F7-3E9E-0682D0D25A27}"/>
                </a:ext>
              </a:extLst>
            </p:cNvPr>
            <p:cNvSpPr txBox="1"/>
            <p:nvPr/>
          </p:nvSpPr>
          <p:spPr>
            <a:xfrm>
              <a:off x="238809" y="4600396"/>
              <a:ext cx="1424547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2100" b="1" dirty="0"/>
                <a:t>Subtle</a:t>
              </a:r>
            </a:p>
            <a:p>
              <a:pPr algn="ctr"/>
              <a:r>
                <a:rPr lang="en-MY" sz="2100" b="1" dirty="0"/>
                <a:t>Facial Expression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5D89671-C5C1-D8D5-C067-F93E619245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28" y="5881463"/>
            <a:ext cx="594408" cy="4817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22C439-AC27-A670-403D-502C839E5B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98" y="5856964"/>
            <a:ext cx="635200" cy="49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30F7-B2E1-6906-9B6B-5DA5F613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81BAC-B983-9F6E-1D23-CD90AD936E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C6F042-E888-102A-E3F0-FC743421B118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1BED05-C8E3-9DC8-E382-D6E636D1D948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Previous Studies: Multimodal Approach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591E6B-1CEF-E3B3-A69B-99763D151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7905"/>
              </p:ext>
            </p:extLst>
          </p:nvPr>
        </p:nvGraphicFramePr>
        <p:xfrm>
          <a:off x="530288" y="1914796"/>
          <a:ext cx="11131422" cy="19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965">
                  <a:extLst>
                    <a:ext uri="{9D8B030D-6E8A-4147-A177-3AD203B41FA5}">
                      <a16:colId xmlns:a16="http://schemas.microsoft.com/office/drawing/2014/main" val="1819819910"/>
                    </a:ext>
                  </a:extLst>
                </a:gridCol>
                <a:gridCol w="3470988">
                  <a:extLst>
                    <a:ext uri="{9D8B030D-6E8A-4147-A177-3AD203B41FA5}">
                      <a16:colId xmlns:a16="http://schemas.microsoft.com/office/drawing/2014/main" val="2224354713"/>
                    </a:ext>
                  </a:extLst>
                </a:gridCol>
                <a:gridCol w="1688841">
                  <a:extLst>
                    <a:ext uri="{9D8B030D-6E8A-4147-A177-3AD203B41FA5}">
                      <a16:colId xmlns:a16="http://schemas.microsoft.com/office/drawing/2014/main" val="669046995"/>
                    </a:ext>
                  </a:extLst>
                </a:gridCol>
                <a:gridCol w="1474236">
                  <a:extLst>
                    <a:ext uri="{9D8B030D-6E8A-4147-A177-3AD203B41FA5}">
                      <a16:colId xmlns:a16="http://schemas.microsoft.com/office/drawing/2014/main" val="539317675"/>
                    </a:ext>
                  </a:extLst>
                </a:gridCol>
                <a:gridCol w="3609392">
                  <a:extLst>
                    <a:ext uri="{9D8B030D-6E8A-4147-A177-3AD203B41FA5}">
                      <a16:colId xmlns:a16="http://schemas.microsoft.com/office/drawing/2014/main" val="2435252296"/>
                    </a:ext>
                  </a:extLst>
                </a:gridCol>
              </a:tblGrid>
              <a:tr h="4280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Ref.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Modalities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Result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66757"/>
                  </a:ext>
                </a:extLst>
              </a:tr>
              <a:tr h="66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[28]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Text, audio and visual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DL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0.8270 (IEMOCAP)</a:t>
                      </a:r>
                      <a:b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0.8900 (CMU-MOSEI)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1155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[29]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Physiological signals and visual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ML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0.8096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20257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[30]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Audio and visual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DL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0.8329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29653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76A9A9A-55F1-FE8F-29B2-155CAE4D3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73" y="4713541"/>
            <a:ext cx="2500850" cy="1454703"/>
          </a:xfrm>
          <a:prstGeom prst="rect">
            <a:avLst/>
          </a:prstGeom>
        </p:spPr>
      </p:pic>
      <p:sp>
        <p:nvSpPr>
          <p:cNvPr id="9" name="Text Box 1">
            <a:extLst>
              <a:ext uri="{FF2B5EF4-FFF2-40B4-BE49-F238E27FC236}">
                <a16:creationId xmlns:a16="http://schemas.microsoft.com/office/drawing/2014/main" id="{9F808431-9E1A-75A8-BE5C-297F2E91B2B5}"/>
              </a:ext>
            </a:extLst>
          </p:cNvPr>
          <p:cNvSpPr txBox="1"/>
          <p:nvPr/>
        </p:nvSpPr>
        <p:spPr>
          <a:xfrm>
            <a:off x="-1" y="4071104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sz="4000" b="1" dirty="0">
                <a:latin typeface="Aptos Black" panose="020B0004020202020204" pitchFamily="34" charset="0"/>
                <a:sym typeface="+mn-ea"/>
              </a:rPr>
              <a:t>Single Modality vs. Multimodal</a:t>
            </a:r>
            <a:endParaRPr lang="en-US" sz="40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582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2F84-AB35-1AEF-977B-8D52FC23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0147C-264E-CD01-DEAE-9FA0B4A0A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77079B-5A80-23D0-9F7B-4B09D0769561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7949B-794F-DEE9-E911-2BB2A26D0905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Previous Studies: Ensemble Methods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5DB1D-CF98-0F5A-C7F3-2429673B3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1172"/>
              </p:ext>
            </p:extLst>
          </p:nvPr>
        </p:nvGraphicFramePr>
        <p:xfrm>
          <a:off x="530288" y="1914796"/>
          <a:ext cx="11131422" cy="293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965">
                  <a:extLst>
                    <a:ext uri="{9D8B030D-6E8A-4147-A177-3AD203B41FA5}">
                      <a16:colId xmlns:a16="http://schemas.microsoft.com/office/drawing/2014/main" val="1819819910"/>
                    </a:ext>
                  </a:extLst>
                </a:gridCol>
                <a:gridCol w="3470988">
                  <a:extLst>
                    <a:ext uri="{9D8B030D-6E8A-4147-A177-3AD203B41FA5}">
                      <a16:colId xmlns:a16="http://schemas.microsoft.com/office/drawing/2014/main" val="2224354713"/>
                    </a:ext>
                  </a:extLst>
                </a:gridCol>
                <a:gridCol w="1688841">
                  <a:extLst>
                    <a:ext uri="{9D8B030D-6E8A-4147-A177-3AD203B41FA5}">
                      <a16:colId xmlns:a16="http://schemas.microsoft.com/office/drawing/2014/main" val="669046995"/>
                    </a:ext>
                  </a:extLst>
                </a:gridCol>
                <a:gridCol w="1474236">
                  <a:extLst>
                    <a:ext uri="{9D8B030D-6E8A-4147-A177-3AD203B41FA5}">
                      <a16:colId xmlns:a16="http://schemas.microsoft.com/office/drawing/2014/main" val="539317675"/>
                    </a:ext>
                  </a:extLst>
                </a:gridCol>
                <a:gridCol w="3609392">
                  <a:extLst>
                    <a:ext uri="{9D8B030D-6E8A-4147-A177-3AD203B41FA5}">
                      <a16:colId xmlns:a16="http://schemas.microsoft.com/office/drawing/2014/main" val="2435252296"/>
                    </a:ext>
                  </a:extLst>
                </a:gridCol>
              </a:tblGrid>
              <a:tr h="4280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Ref.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Modality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  <a:endParaRPr lang="en-SG" dirty="0"/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Result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6675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[31]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Audio and visual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Hard Voting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0.8419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1155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[32]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 and audio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Hard Voting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F1-score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0.4747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202577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[33]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Text, audio and visual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Soft Voting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0.8825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296537"/>
                  </a:ext>
                </a:extLst>
              </a:tr>
              <a:tr h="66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[34]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 and visual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Stacking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0.4529 (multiclass classification</a:t>
                      </a: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0.8400 (binary classification)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85515"/>
                  </a:ext>
                </a:extLst>
              </a:tr>
              <a:tr h="4280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[35]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Text, Musical Instrument Digital Interface (MIDI) and audio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AdaBoost</a:t>
                      </a:r>
                      <a:endParaRPr kumimoji="0" lang="en-MY" sz="18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Accuracy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0.724</a:t>
                      </a:r>
                      <a:endParaRPr kumimoji="0" lang="en-MY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6956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34558A-DB36-6C7C-AC87-139E1C26197A}"/>
              </a:ext>
            </a:extLst>
          </p:cNvPr>
          <p:cNvSpPr/>
          <p:nvPr/>
        </p:nvSpPr>
        <p:spPr>
          <a:xfrm>
            <a:off x="4879910" y="1914796"/>
            <a:ext cx="1698172" cy="29344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6CC54A-0C43-9258-0574-0714DFD13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571" y="4945955"/>
            <a:ext cx="2500850" cy="1454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49C5AC-328A-CA46-11A0-03D355B876C8}"/>
              </a:ext>
            </a:extLst>
          </p:cNvPr>
          <p:cNvSpPr txBox="1"/>
          <p:nvPr/>
        </p:nvSpPr>
        <p:spPr>
          <a:xfrm>
            <a:off x="8048625" y="5258977"/>
            <a:ext cx="35822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000" b="1" dirty="0"/>
              <a:t>Some ensemble methods </a:t>
            </a:r>
            <a:br>
              <a:rPr lang="en-MY" sz="2000" b="1" dirty="0"/>
            </a:br>
            <a:r>
              <a:rPr lang="en-MY" sz="2000" b="1" dirty="0"/>
              <a:t>show promising results…</a:t>
            </a: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6E691CF3-5279-CBA8-5A6E-A795D8F550C9}"/>
              </a:ext>
            </a:extLst>
          </p:cNvPr>
          <p:cNvSpPr/>
          <p:nvPr/>
        </p:nvSpPr>
        <p:spPr>
          <a:xfrm>
            <a:off x="9657183" y="4940146"/>
            <a:ext cx="531845" cy="373224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437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449C"/>
          </a:solidFill>
          <a:ln>
            <a:solidFill>
              <a:srgbClr val="1544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61109" y="2967335"/>
            <a:ext cx="1106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Research Methodology</a:t>
            </a:r>
            <a:endParaRPr lang="en-SG" sz="540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Black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CFAA-7D54-D15F-AE57-7AE1B4ED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7C945-1462-6755-A143-17606846C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74FF9-8370-D14F-740B-FE2E0B3BA1EC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673DC-6010-68DB-5D16-3CC467B16FC4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Research Methodology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C8028F0-8BEA-43E1-DF92-28D88942A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2572394"/>
              </p:ext>
            </p:extLst>
          </p:nvPr>
        </p:nvGraphicFramePr>
        <p:xfrm>
          <a:off x="0" y="1175656"/>
          <a:ext cx="11952512" cy="4516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 Box 1">
            <a:extLst>
              <a:ext uri="{FF2B5EF4-FFF2-40B4-BE49-F238E27FC236}">
                <a16:creationId xmlns:a16="http://schemas.microsoft.com/office/drawing/2014/main" id="{86080F17-D5E6-B2C9-0143-E28EAEFA3541}"/>
              </a:ext>
            </a:extLst>
          </p:cNvPr>
          <p:cNvSpPr txBox="1"/>
          <p:nvPr/>
        </p:nvSpPr>
        <p:spPr>
          <a:xfrm>
            <a:off x="2255094" y="4716895"/>
            <a:ext cx="2654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latin typeface="Aptos Black" panose="020B0004020202020204" pitchFamily="34" charset="0"/>
                <a:sym typeface="+mn-ea"/>
              </a:rPr>
              <a:t>Single</a:t>
            </a:r>
            <a:r>
              <a:rPr lang="en-MY" altLang="zh-CN" sz="2400" b="1" dirty="0">
                <a:latin typeface="Aptos Black" panose="020B0004020202020204" pitchFamily="34" charset="0"/>
                <a:sym typeface="+mn-ea"/>
              </a:rPr>
              <a:t> Modality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5CA4B43B-73C8-F0F3-5868-6C17B4802D8F}"/>
              </a:ext>
            </a:extLst>
          </p:cNvPr>
          <p:cNvSpPr txBox="1"/>
          <p:nvPr/>
        </p:nvSpPr>
        <p:spPr>
          <a:xfrm>
            <a:off x="5028959" y="4711842"/>
            <a:ext cx="2464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Aptos Black" panose="020B0004020202020204" pitchFamily="34" charset="0"/>
                <a:sym typeface="+mn-ea"/>
              </a:rPr>
              <a:t>Multimodality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A7F61462-5B55-19B3-BD70-D986DFECFFFD}"/>
              </a:ext>
            </a:extLst>
          </p:cNvPr>
          <p:cNvSpPr txBox="1"/>
          <p:nvPr/>
        </p:nvSpPr>
        <p:spPr>
          <a:xfrm>
            <a:off x="8126967" y="4716895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Aptos Black" panose="020B0004020202020204" pitchFamily="34" charset="0"/>
                <a:sym typeface="+mn-ea"/>
              </a:rPr>
              <a:t>Fusion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sp>
        <p:nvSpPr>
          <p:cNvPr id="13" name="Text Box 1">
            <a:extLst>
              <a:ext uri="{FF2B5EF4-FFF2-40B4-BE49-F238E27FC236}">
                <a16:creationId xmlns:a16="http://schemas.microsoft.com/office/drawing/2014/main" id="{244A6E78-F43A-EC00-3E84-4091DD5F93B8}"/>
              </a:ext>
            </a:extLst>
          </p:cNvPr>
          <p:cNvSpPr txBox="1"/>
          <p:nvPr/>
        </p:nvSpPr>
        <p:spPr>
          <a:xfrm>
            <a:off x="2255093" y="5074863"/>
            <a:ext cx="2654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ym typeface="+mn-ea"/>
              </a:rPr>
              <a:t>Text, Audio and Visual-based Modality</a:t>
            </a:r>
            <a:endParaRPr lang="en-US" sz="2000" dirty="0"/>
          </a:p>
        </p:txBody>
      </p:sp>
      <p:sp>
        <p:nvSpPr>
          <p:cNvPr id="14" name="Text Box 1">
            <a:extLst>
              <a:ext uri="{FF2B5EF4-FFF2-40B4-BE49-F238E27FC236}">
                <a16:creationId xmlns:a16="http://schemas.microsoft.com/office/drawing/2014/main" id="{4B664663-291A-44B0-80DC-D82B142A9B2F}"/>
              </a:ext>
            </a:extLst>
          </p:cNvPr>
          <p:cNvSpPr txBox="1"/>
          <p:nvPr/>
        </p:nvSpPr>
        <p:spPr>
          <a:xfrm>
            <a:off x="4934114" y="5069810"/>
            <a:ext cx="2654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ym typeface="+mn-ea"/>
              </a:rPr>
              <a:t>Bimodal vs. Trimodal Combination</a:t>
            </a:r>
            <a:endParaRPr lang="en-US" sz="2000" dirty="0"/>
          </a:p>
        </p:txBody>
      </p:sp>
      <p:sp>
        <p:nvSpPr>
          <p:cNvPr id="16" name="Text Box 1">
            <a:extLst>
              <a:ext uri="{FF2B5EF4-FFF2-40B4-BE49-F238E27FC236}">
                <a16:creationId xmlns:a16="http://schemas.microsoft.com/office/drawing/2014/main" id="{BC23367F-12C9-33F9-F8B8-6B767AAB4B1D}"/>
              </a:ext>
            </a:extLst>
          </p:cNvPr>
          <p:cNvSpPr txBox="1"/>
          <p:nvPr/>
        </p:nvSpPr>
        <p:spPr>
          <a:xfrm>
            <a:off x="7583715" y="5069810"/>
            <a:ext cx="265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ym typeface="+mn-ea"/>
              </a:rPr>
              <a:t>Ensemble Methods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7443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7D73-1743-A7C5-D12F-5BEAFE52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DD6549-3C07-D29C-AA0A-6E7FB81FEF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5F218D-EB34-D729-B132-680FC8117602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14F27-6D7D-F6B6-B324-A42B7C784741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Research Methodology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F2D1799-31E4-B1F7-FF9A-631061ED0D47}"/>
              </a:ext>
            </a:extLst>
          </p:cNvPr>
          <p:cNvGraphicFramePr/>
          <p:nvPr/>
        </p:nvGraphicFramePr>
        <p:xfrm>
          <a:off x="0" y="2251596"/>
          <a:ext cx="11952512" cy="3197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 Box 1">
            <a:extLst>
              <a:ext uri="{FF2B5EF4-FFF2-40B4-BE49-F238E27FC236}">
                <a16:creationId xmlns:a16="http://schemas.microsoft.com/office/drawing/2014/main" id="{464B8529-38DA-8941-44D3-5EA400E28B43}"/>
              </a:ext>
            </a:extLst>
          </p:cNvPr>
          <p:cNvSpPr txBox="1"/>
          <p:nvPr/>
        </p:nvSpPr>
        <p:spPr>
          <a:xfrm>
            <a:off x="1550153" y="2231841"/>
            <a:ext cx="1703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Data Collection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2249F12D-1D03-9FD5-CC94-F3F3C1D9876B}"/>
              </a:ext>
            </a:extLst>
          </p:cNvPr>
          <p:cNvSpPr txBox="1"/>
          <p:nvPr/>
        </p:nvSpPr>
        <p:spPr>
          <a:xfrm>
            <a:off x="3402913" y="4754221"/>
            <a:ext cx="1703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Data </a:t>
            </a:r>
            <a:br>
              <a:rPr lang="en-US" sz="2000" b="1" dirty="0">
                <a:latin typeface="Aptos Black" panose="020B0004020202020204" pitchFamily="34" charset="0"/>
                <a:sym typeface="+mn-ea"/>
              </a:rPr>
            </a:br>
            <a:r>
              <a:rPr lang="en-US" sz="2000" b="1" dirty="0">
                <a:latin typeface="Aptos Black" panose="020B0004020202020204" pitchFamily="34" charset="0"/>
                <a:sym typeface="+mn-ea"/>
              </a:rPr>
              <a:t>Splitting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5045E29E-FC7F-8DA2-B4B9-58D6495FB582}"/>
              </a:ext>
            </a:extLst>
          </p:cNvPr>
          <p:cNvSpPr txBox="1"/>
          <p:nvPr/>
        </p:nvSpPr>
        <p:spPr>
          <a:xfrm>
            <a:off x="5020215" y="2231840"/>
            <a:ext cx="2255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Model </a:t>
            </a:r>
            <a:br>
              <a:rPr lang="en-US" sz="2000" b="1" dirty="0">
                <a:latin typeface="Aptos Black" panose="020B0004020202020204" pitchFamily="34" charset="0"/>
                <a:sym typeface="+mn-ea"/>
              </a:rPr>
            </a:br>
            <a:r>
              <a:rPr lang="en-US" sz="2000" b="1" dirty="0">
                <a:latin typeface="Aptos Black" panose="020B0004020202020204" pitchFamily="34" charset="0"/>
                <a:sym typeface="+mn-ea"/>
              </a:rPr>
              <a:t>Training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2192E02B-2A73-7028-1484-96E037FB286B}"/>
              </a:ext>
            </a:extLst>
          </p:cNvPr>
          <p:cNvSpPr txBox="1"/>
          <p:nvPr/>
        </p:nvSpPr>
        <p:spPr>
          <a:xfrm>
            <a:off x="7187856" y="4754221"/>
            <a:ext cx="1703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Model </a:t>
            </a:r>
            <a:br>
              <a:rPr lang="en-US" sz="2000" b="1" dirty="0">
                <a:latin typeface="Aptos Black" panose="020B0004020202020204" pitchFamily="34" charset="0"/>
                <a:sym typeface="+mn-ea"/>
              </a:rPr>
            </a:br>
            <a:r>
              <a:rPr lang="en-US" sz="2000" b="1" dirty="0">
                <a:latin typeface="Aptos Black" panose="020B0004020202020204" pitchFamily="34" charset="0"/>
                <a:sym typeface="+mn-ea"/>
              </a:rPr>
              <a:t>Fine-Tuning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2" name="Text Box 1">
            <a:extLst>
              <a:ext uri="{FF2B5EF4-FFF2-40B4-BE49-F238E27FC236}">
                <a16:creationId xmlns:a16="http://schemas.microsoft.com/office/drawing/2014/main" id="{9C75FF3D-504D-236B-0638-8E3A4A054926}"/>
              </a:ext>
            </a:extLst>
          </p:cNvPr>
          <p:cNvSpPr txBox="1"/>
          <p:nvPr/>
        </p:nvSpPr>
        <p:spPr>
          <a:xfrm>
            <a:off x="8793810" y="2231840"/>
            <a:ext cx="2255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Model Evaluation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055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65D0-F579-7368-47F4-0E5156D0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71AA6-647B-7EED-A509-5B3116287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BFA5B4-BDDD-2F78-35CA-DA29145CF347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CC2F0-4EEE-81E9-76C4-9F80F3593D07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Data Collection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81694-CE98-B2F8-2F1A-39FA2E7EB4AB}"/>
              </a:ext>
            </a:extLst>
          </p:cNvPr>
          <p:cNvSpPr txBox="1"/>
          <p:nvPr/>
        </p:nvSpPr>
        <p:spPr>
          <a:xfrm>
            <a:off x="9331" y="6303397"/>
            <a:ext cx="81723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1 https://www.kaggle.com/datasets/columbine/iemocap/data</a:t>
            </a:r>
          </a:p>
        </p:txBody>
      </p:sp>
      <p:pic>
        <p:nvPicPr>
          <p:cNvPr id="9" name="Picture 8" descr="A yellow and white object with buttons&#10;&#10;Description automatically generated">
            <a:extLst>
              <a:ext uri="{FF2B5EF4-FFF2-40B4-BE49-F238E27FC236}">
                <a16:creationId xmlns:a16="http://schemas.microsoft.com/office/drawing/2014/main" id="{1138EB7E-E2E6-07EC-9303-78FC290C1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6" y="2512852"/>
            <a:ext cx="1876234" cy="1876234"/>
          </a:xfrm>
          <a:prstGeom prst="rect">
            <a:avLst/>
          </a:prstGeom>
        </p:spPr>
      </p:pic>
      <p:sp>
        <p:nvSpPr>
          <p:cNvPr id="10" name="Text Box 1">
            <a:extLst>
              <a:ext uri="{FF2B5EF4-FFF2-40B4-BE49-F238E27FC236}">
                <a16:creationId xmlns:a16="http://schemas.microsoft.com/office/drawing/2014/main" id="{C696F790-453B-71CF-6BC8-F17A9F99E099}"/>
              </a:ext>
            </a:extLst>
          </p:cNvPr>
          <p:cNvSpPr txBox="1"/>
          <p:nvPr/>
        </p:nvSpPr>
        <p:spPr>
          <a:xfrm>
            <a:off x="552303" y="4408723"/>
            <a:ext cx="1703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ptos Black" panose="020B0004020202020204" pitchFamily="34" charset="0"/>
                <a:sym typeface="+mn-ea"/>
              </a:rPr>
              <a:t>IEMOCAP Dataset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EEDE6-D635-B0DB-88A0-A59DA5D7DF81}"/>
              </a:ext>
            </a:extLst>
          </p:cNvPr>
          <p:cNvSpPr txBox="1"/>
          <p:nvPr/>
        </p:nvSpPr>
        <p:spPr>
          <a:xfrm>
            <a:off x="2537913" y="2023196"/>
            <a:ext cx="9321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MY" sz="2400" dirty="0"/>
              <a:t>The </a:t>
            </a:r>
            <a:r>
              <a:rPr lang="en-MY" sz="2400" b="1" dirty="0"/>
              <a:t>Interactive Emotional Dyadic Motion Capture</a:t>
            </a:r>
            <a:r>
              <a:rPr lang="en-MY" sz="2400" dirty="0"/>
              <a:t> (IEMOCAP) dataset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53263-EE6D-DE84-60A4-F0CA4C1ABF1E}"/>
              </a:ext>
            </a:extLst>
          </p:cNvPr>
          <p:cNvSpPr txBox="1"/>
          <p:nvPr/>
        </p:nvSpPr>
        <p:spPr>
          <a:xfrm>
            <a:off x="2537913" y="2578303"/>
            <a:ext cx="89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Created by the </a:t>
            </a:r>
            <a:r>
              <a:rPr lang="en-US" sz="2400" b="1" dirty="0"/>
              <a:t>Speech Analysis and Interpretation Laboratory</a:t>
            </a:r>
            <a:r>
              <a:rPr lang="en-US" sz="2400" dirty="0"/>
              <a:t> (</a:t>
            </a:r>
            <a:r>
              <a:rPr lang="en-US" sz="2400" b="1" dirty="0"/>
              <a:t>SAIL</a:t>
            </a:r>
            <a:r>
              <a:rPr lang="en-US" sz="2400" dirty="0"/>
              <a:t>) at the </a:t>
            </a:r>
            <a:r>
              <a:rPr lang="en-US" sz="2400" b="1" dirty="0"/>
              <a:t>University of Southern California </a:t>
            </a:r>
            <a:r>
              <a:rPr lang="en-US" sz="2400" dirty="0"/>
              <a:t>(USC)</a:t>
            </a:r>
            <a:endParaRPr lang="en-MY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79F7-BCA7-6A56-7AFF-9EECF2BCD3D0}"/>
              </a:ext>
            </a:extLst>
          </p:cNvPr>
          <p:cNvSpPr txBox="1"/>
          <p:nvPr/>
        </p:nvSpPr>
        <p:spPr>
          <a:xfrm>
            <a:off x="2537913" y="3497626"/>
            <a:ext cx="89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Includes </a:t>
            </a:r>
            <a:r>
              <a:rPr lang="en-US" sz="2400" b="1" dirty="0"/>
              <a:t>video</a:t>
            </a:r>
            <a:r>
              <a:rPr lang="en-US" sz="2400" dirty="0"/>
              <a:t>, </a:t>
            </a:r>
            <a:r>
              <a:rPr lang="en-US" sz="2400" b="1" dirty="0"/>
              <a:t>speech</a:t>
            </a:r>
            <a:r>
              <a:rPr lang="en-US" sz="2400" dirty="0"/>
              <a:t>, </a:t>
            </a:r>
            <a:r>
              <a:rPr lang="en-US" sz="2400" b="1" dirty="0"/>
              <a:t>facial motion-capture data</a:t>
            </a:r>
            <a:r>
              <a:rPr lang="en-US" sz="2400" dirty="0"/>
              <a:t>, and </a:t>
            </a:r>
            <a:r>
              <a:rPr lang="en-US" sz="2400" b="1" dirty="0"/>
              <a:t>text transcripts</a:t>
            </a:r>
            <a:r>
              <a:rPr lang="en-US" sz="2400" dirty="0"/>
              <a:t>.</a:t>
            </a:r>
            <a:endParaRPr lang="en-MY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A1566-1456-8461-B229-41893E8C72D6}"/>
              </a:ext>
            </a:extLst>
          </p:cNvPr>
          <p:cNvSpPr txBox="1"/>
          <p:nvPr/>
        </p:nvSpPr>
        <p:spPr>
          <a:xfrm>
            <a:off x="2537913" y="4412134"/>
            <a:ext cx="89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preprocessed version</a:t>
            </a:r>
            <a:r>
              <a:rPr lang="en-US" sz="2400" baseline="30000" dirty="0"/>
              <a:t>1</a:t>
            </a:r>
            <a:r>
              <a:rPr lang="en-US" sz="2400" dirty="0"/>
              <a:t> with features pre-extracted.</a:t>
            </a:r>
            <a:endParaRPr lang="en-MY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BDD5C-6C86-E3F1-3F5F-0CA58423AEE5}"/>
              </a:ext>
            </a:extLst>
          </p:cNvPr>
          <p:cNvSpPr txBox="1"/>
          <p:nvPr/>
        </p:nvSpPr>
        <p:spPr>
          <a:xfrm>
            <a:off x="2537913" y="4957310"/>
            <a:ext cx="89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Six (6) categories of emotion: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Neutral</a:t>
            </a:r>
            <a:r>
              <a:rPr lang="en-US" sz="2400" dirty="0"/>
              <a:t>, </a:t>
            </a:r>
            <a:r>
              <a:rPr lang="en-US" sz="2400" b="1" dirty="0"/>
              <a:t>Sad</a:t>
            </a:r>
            <a:r>
              <a:rPr lang="en-US" sz="2400" dirty="0"/>
              <a:t>, </a:t>
            </a:r>
            <a:r>
              <a:rPr lang="en-US" sz="2400" b="1" dirty="0"/>
              <a:t>Excited</a:t>
            </a:r>
            <a:r>
              <a:rPr lang="en-US" sz="2400" dirty="0"/>
              <a:t>, </a:t>
            </a:r>
            <a:r>
              <a:rPr lang="en-US" sz="2400" b="1" dirty="0"/>
              <a:t>Happy</a:t>
            </a:r>
            <a:r>
              <a:rPr lang="en-US" sz="2400" dirty="0"/>
              <a:t>, </a:t>
            </a:r>
            <a:r>
              <a:rPr lang="en-US" sz="2400" b="1" dirty="0"/>
              <a:t>Frustrated</a:t>
            </a:r>
            <a:r>
              <a:rPr lang="en-US" sz="2400" dirty="0"/>
              <a:t> and </a:t>
            </a:r>
            <a:r>
              <a:rPr lang="en-US" sz="2400" b="1" dirty="0"/>
              <a:t>Angry</a:t>
            </a:r>
            <a:endParaRPr lang="en-MY" sz="2400" b="1" dirty="0"/>
          </a:p>
        </p:txBody>
      </p:sp>
    </p:spTree>
    <p:extLst>
      <p:ext uri="{BB962C8B-B14F-4D97-AF65-F5344CB8AC3E}">
        <p14:creationId xmlns:p14="http://schemas.microsoft.com/office/powerpoint/2010/main" val="3080051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3424-8CA8-E85A-F955-EB218DB5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24A6D-E62C-A1E2-7E2C-FAD70B79B3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C5C71C-057B-5BED-E7E0-DDDCFD23C199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50390-E603-CF0C-E239-20A01B12CE9F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Stratified 5-Fold Cross Validation</a:t>
            </a:r>
          </a:p>
        </p:txBody>
      </p:sp>
      <p:sp>
        <p:nvSpPr>
          <p:cNvPr id="36" name="Text Box 1">
            <a:extLst>
              <a:ext uri="{FF2B5EF4-FFF2-40B4-BE49-F238E27FC236}">
                <a16:creationId xmlns:a16="http://schemas.microsoft.com/office/drawing/2014/main" id="{92149AC7-AA3F-BDD3-A219-AE7111ACE910}"/>
              </a:ext>
            </a:extLst>
          </p:cNvPr>
          <p:cNvSpPr txBox="1"/>
          <p:nvPr/>
        </p:nvSpPr>
        <p:spPr>
          <a:xfrm>
            <a:off x="6167077" y="3900188"/>
            <a:ext cx="5271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 dirty="0">
                <a:latin typeface="Aptos Black" panose="020B0004020202020204" pitchFamily="34" charset="0"/>
                <a:sym typeface="+mn-ea"/>
              </a:rPr>
              <a:t>Stratified</a:t>
            </a:r>
            <a:r>
              <a:rPr lang="en-MY" altLang="zh-CN" sz="4000" b="1" dirty="0">
                <a:latin typeface="Aptos Black" panose="020B0004020202020204" pitchFamily="34" charset="0"/>
                <a:sym typeface="+mn-ea"/>
              </a:rPr>
              <a:t> 5-Fold CV</a:t>
            </a:r>
            <a:endParaRPr lang="en-US" sz="4000" b="1" dirty="0">
              <a:latin typeface="Aptos Black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2B975A-C72D-F57B-6DFB-AB54228CA536}"/>
              </a:ext>
            </a:extLst>
          </p:cNvPr>
          <p:cNvSpPr txBox="1"/>
          <p:nvPr/>
        </p:nvSpPr>
        <p:spPr>
          <a:xfrm>
            <a:off x="5795486" y="1781838"/>
            <a:ext cx="6014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 Black" panose="020B0004020202020204" pitchFamily="34" charset="0"/>
              </a:rPr>
              <a:t>Stable &amp; unbiased performance</a:t>
            </a:r>
            <a:endParaRPr lang="en-MY" sz="2800" b="1" dirty="0">
              <a:latin typeface="Aptos Black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A76391-726F-2829-C65E-779D539CDA62}"/>
              </a:ext>
            </a:extLst>
          </p:cNvPr>
          <p:cNvSpPr txBox="1"/>
          <p:nvPr/>
        </p:nvSpPr>
        <p:spPr>
          <a:xfrm>
            <a:off x="5795486" y="2782595"/>
            <a:ext cx="6014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 Black" panose="020B0004020202020204" pitchFamily="34" charset="0"/>
              </a:rPr>
              <a:t>Preserved class distribution</a:t>
            </a:r>
            <a:endParaRPr lang="en-MY" sz="2800" b="1" dirty="0">
              <a:latin typeface="Aptos Black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EDE867-983A-E35E-F009-DBD22F2126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93" r="25500" b="11540"/>
          <a:stretch>
            <a:fillRect/>
          </a:stretch>
        </p:blipFill>
        <p:spPr>
          <a:xfrm>
            <a:off x="2233000" y="1890883"/>
            <a:ext cx="3606746" cy="3589399"/>
          </a:xfrm>
          <a:prstGeom prst="rect">
            <a:avLst/>
          </a:prstGeom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3A7E357C-8466-C489-C0EF-460818F17D26}"/>
              </a:ext>
            </a:extLst>
          </p:cNvPr>
          <p:cNvSpPr/>
          <p:nvPr/>
        </p:nvSpPr>
        <p:spPr>
          <a:xfrm rot="5400000">
            <a:off x="8548215" y="3373074"/>
            <a:ext cx="509515" cy="55518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Plus Sign 50">
            <a:extLst>
              <a:ext uri="{FF2B5EF4-FFF2-40B4-BE49-F238E27FC236}">
                <a16:creationId xmlns:a16="http://schemas.microsoft.com/office/drawing/2014/main" id="{1B7CF72F-0EAC-DCCF-6A1A-796C764F53C9}"/>
              </a:ext>
            </a:extLst>
          </p:cNvPr>
          <p:cNvSpPr/>
          <p:nvPr/>
        </p:nvSpPr>
        <p:spPr>
          <a:xfrm>
            <a:off x="8519452" y="2283060"/>
            <a:ext cx="567043" cy="56704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51D7AE-3038-BA4C-1DA2-9BC8479833CB}"/>
              </a:ext>
            </a:extLst>
          </p:cNvPr>
          <p:cNvSpPr/>
          <p:nvPr/>
        </p:nvSpPr>
        <p:spPr>
          <a:xfrm>
            <a:off x="6465651" y="4603038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3" name="Text Box 1">
            <a:extLst>
              <a:ext uri="{FF2B5EF4-FFF2-40B4-BE49-F238E27FC236}">
                <a16:creationId xmlns:a16="http://schemas.microsoft.com/office/drawing/2014/main" id="{834D6B41-46EE-83A3-3F6D-FD293B0BE5EC}"/>
              </a:ext>
            </a:extLst>
          </p:cNvPr>
          <p:cNvSpPr txBox="1"/>
          <p:nvPr/>
        </p:nvSpPr>
        <p:spPr>
          <a:xfrm>
            <a:off x="6465650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F9BB69-58CD-C8B8-3A03-E23089D7C8AE}"/>
              </a:ext>
            </a:extLst>
          </p:cNvPr>
          <p:cNvGrpSpPr/>
          <p:nvPr/>
        </p:nvGrpSpPr>
        <p:grpSpPr>
          <a:xfrm>
            <a:off x="7423528" y="4603035"/>
            <a:ext cx="3754094" cy="1110344"/>
            <a:chOff x="7423528" y="4603035"/>
            <a:chExt cx="3754094" cy="111034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D1F6A6C-8E59-CFFE-38A7-ED7B1772C68E}"/>
                </a:ext>
              </a:extLst>
            </p:cNvPr>
            <p:cNvSpPr/>
            <p:nvPr/>
          </p:nvSpPr>
          <p:spPr>
            <a:xfrm>
              <a:off x="7423529" y="4603036"/>
              <a:ext cx="877739" cy="111034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F54999-8DEC-C151-9D44-5823EA58CD51}"/>
                </a:ext>
              </a:extLst>
            </p:cNvPr>
            <p:cNvSpPr/>
            <p:nvPr/>
          </p:nvSpPr>
          <p:spPr>
            <a:xfrm>
              <a:off x="8381407" y="4603036"/>
              <a:ext cx="877739" cy="111034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2026EBC-E73B-DBB1-C9E7-F4CA5F1117B1}"/>
                </a:ext>
              </a:extLst>
            </p:cNvPr>
            <p:cNvSpPr/>
            <p:nvPr/>
          </p:nvSpPr>
          <p:spPr>
            <a:xfrm>
              <a:off x="9339285" y="4603036"/>
              <a:ext cx="877739" cy="111034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AA8E8DE-391E-E95F-6C21-6F2E100F960C}"/>
                </a:ext>
              </a:extLst>
            </p:cNvPr>
            <p:cNvSpPr/>
            <p:nvPr/>
          </p:nvSpPr>
          <p:spPr>
            <a:xfrm>
              <a:off x="10299883" y="4603035"/>
              <a:ext cx="877739" cy="111034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3" name="Text Box 1">
              <a:extLst>
                <a:ext uri="{FF2B5EF4-FFF2-40B4-BE49-F238E27FC236}">
                  <a16:creationId xmlns:a16="http://schemas.microsoft.com/office/drawing/2014/main" id="{DB551C21-81E2-BAB5-7A43-EB2CB6095DD8}"/>
                </a:ext>
              </a:extLst>
            </p:cNvPr>
            <p:cNvSpPr txBox="1"/>
            <p:nvPr/>
          </p:nvSpPr>
          <p:spPr>
            <a:xfrm>
              <a:off x="7423528" y="4929893"/>
              <a:ext cx="877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Black" panose="020B0004020202020204" pitchFamily="34" charset="0"/>
                  <a:sym typeface="+mn-ea"/>
                </a:rPr>
                <a:t>20%</a:t>
              </a:r>
              <a:endParaRPr lang="en-US" sz="2400" b="1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  <p:sp>
          <p:nvSpPr>
            <p:cNvPr id="74" name="Text Box 1">
              <a:extLst>
                <a:ext uri="{FF2B5EF4-FFF2-40B4-BE49-F238E27FC236}">
                  <a16:creationId xmlns:a16="http://schemas.microsoft.com/office/drawing/2014/main" id="{FFB3AE67-27BB-6D2F-CF52-76FDD409000E}"/>
                </a:ext>
              </a:extLst>
            </p:cNvPr>
            <p:cNvSpPr txBox="1"/>
            <p:nvPr/>
          </p:nvSpPr>
          <p:spPr>
            <a:xfrm>
              <a:off x="8381406" y="4929893"/>
              <a:ext cx="877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Black" panose="020B0004020202020204" pitchFamily="34" charset="0"/>
                  <a:sym typeface="+mn-ea"/>
                </a:rPr>
                <a:t>20%</a:t>
              </a:r>
              <a:endParaRPr lang="en-US" sz="2400" b="1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  <p:sp>
          <p:nvSpPr>
            <p:cNvPr id="75" name="Text Box 1">
              <a:extLst>
                <a:ext uri="{FF2B5EF4-FFF2-40B4-BE49-F238E27FC236}">
                  <a16:creationId xmlns:a16="http://schemas.microsoft.com/office/drawing/2014/main" id="{9C568D1D-558D-E33A-131C-82AF94A52D48}"/>
                </a:ext>
              </a:extLst>
            </p:cNvPr>
            <p:cNvSpPr txBox="1"/>
            <p:nvPr/>
          </p:nvSpPr>
          <p:spPr>
            <a:xfrm>
              <a:off x="9339284" y="4929893"/>
              <a:ext cx="877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Black" panose="020B0004020202020204" pitchFamily="34" charset="0"/>
                  <a:sym typeface="+mn-ea"/>
                </a:rPr>
                <a:t>20%</a:t>
              </a:r>
              <a:endParaRPr lang="en-US" sz="2400" b="1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  <p:sp>
          <p:nvSpPr>
            <p:cNvPr id="76" name="Text Box 1">
              <a:extLst>
                <a:ext uri="{FF2B5EF4-FFF2-40B4-BE49-F238E27FC236}">
                  <a16:creationId xmlns:a16="http://schemas.microsoft.com/office/drawing/2014/main" id="{6B6ED264-BB2E-1CFA-4834-D2DB60B10BFD}"/>
                </a:ext>
              </a:extLst>
            </p:cNvPr>
            <p:cNvSpPr txBox="1"/>
            <p:nvPr/>
          </p:nvSpPr>
          <p:spPr>
            <a:xfrm>
              <a:off x="10297162" y="4929893"/>
              <a:ext cx="877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Black" panose="020B0004020202020204" pitchFamily="34" charset="0"/>
                  <a:sym typeface="+mn-ea"/>
                </a:rPr>
                <a:t>20%</a:t>
              </a:r>
              <a:endParaRPr lang="en-US" sz="2400" b="1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82EDF27-6494-457D-7643-4EEA7E3DC24E}"/>
              </a:ext>
            </a:extLst>
          </p:cNvPr>
          <p:cNvGrpSpPr/>
          <p:nvPr/>
        </p:nvGrpSpPr>
        <p:grpSpPr>
          <a:xfrm>
            <a:off x="575948" y="2567990"/>
            <a:ext cx="1565982" cy="2181386"/>
            <a:chOff x="603632" y="2529257"/>
            <a:chExt cx="1565982" cy="218138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DC5AD5C-D4F7-6BB2-9C94-8359FD804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547" t="91151" r="36961"/>
            <a:stretch>
              <a:fillRect/>
            </a:stretch>
          </p:blipFill>
          <p:spPr>
            <a:xfrm>
              <a:off x="648371" y="3654629"/>
              <a:ext cx="1117384" cy="357605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F1B3BB3-E329-7185-8849-23DA78AE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0229" r="82856"/>
            <a:stretch>
              <a:fillRect/>
            </a:stretch>
          </p:blipFill>
          <p:spPr>
            <a:xfrm>
              <a:off x="622294" y="2529257"/>
              <a:ext cx="1236490" cy="394878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F6AC68CC-E8E3-C7D2-784D-83A253D55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507" t="90229" r="70739"/>
            <a:stretch>
              <a:fillRect/>
            </a:stretch>
          </p:blipFill>
          <p:spPr>
            <a:xfrm>
              <a:off x="603632" y="2892018"/>
              <a:ext cx="847813" cy="394878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063E67C-DEE6-0474-23FE-87C6140A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801" t="90229" r="52453"/>
            <a:stretch>
              <a:fillRect/>
            </a:stretch>
          </p:blipFill>
          <p:spPr>
            <a:xfrm>
              <a:off x="637894" y="3255573"/>
              <a:ext cx="1279937" cy="394878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DB185EE-B269-4DA4-EDA3-55C45AF31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3255" t="91074" r="15140"/>
            <a:stretch>
              <a:fillRect/>
            </a:stretch>
          </p:blipFill>
          <p:spPr>
            <a:xfrm>
              <a:off x="611402" y="4003967"/>
              <a:ext cx="1558212" cy="360715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9661F0A-07AF-3D3C-7CB2-61C5E33FA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5593" t="90229"/>
            <a:stretch>
              <a:fillRect/>
            </a:stretch>
          </p:blipFill>
          <p:spPr>
            <a:xfrm>
              <a:off x="611402" y="4315766"/>
              <a:ext cx="1039072" cy="39487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39CD7F-682A-E963-926F-E62114392CA1}"/>
              </a:ext>
            </a:extLst>
          </p:cNvPr>
          <p:cNvSpPr txBox="1"/>
          <p:nvPr/>
        </p:nvSpPr>
        <p:spPr>
          <a:xfrm>
            <a:off x="528722" y="5572855"/>
            <a:ext cx="5266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 Black" panose="020B0004020202020204" pitchFamily="34" charset="0"/>
              </a:rPr>
              <a:t>E.g., Frustrated &gt; Neutral &gt; Happy</a:t>
            </a:r>
            <a:endParaRPr lang="en-MY" sz="24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468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E3D0-D005-501A-F6FC-12F73B0D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3C43F-4793-E22B-DC07-4A6094793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A9AFF6B-F6EB-A11B-8F85-D90D547C5D79}"/>
              </a:ext>
            </a:extLst>
          </p:cNvPr>
          <p:cNvSpPr/>
          <p:nvPr/>
        </p:nvSpPr>
        <p:spPr>
          <a:xfrm>
            <a:off x="1119675" y="1867634"/>
            <a:ext cx="4273420" cy="4309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D2999-6FB3-2EFD-BB5F-CEB4001BF743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959FF-4EC4-7668-24FB-DF3563C93421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Model Training, Fine-Tuning and Evaluation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2B1D5E-55E1-2F13-AC8A-EF342F335E8F}"/>
              </a:ext>
            </a:extLst>
          </p:cNvPr>
          <p:cNvSpPr txBox="1"/>
          <p:nvPr/>
        </p:nvSpPr>
        <p:spPr>
          <a:xfrm>
            <a:off x="2741647" y="2850655"/>
            <a:ext cx="2205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Black" panose="020B0004020202020204" pitchFamily="34" charset="0"/>
              </a:rPr>
              <a:t>BERT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Black" panose="020B0004020202020204" pitchFamily="34" charset="0"/>
              </a:rPr>
              <a:t>CNN-LSTM</a:t>
            </a:r>
            <a:endParaRPr lang="en-MY" sz="2400" b="1" dirty="0">
              <a:latin typeface="Aptos Black" panose="020B0004020202020204" pitchFamily="34" charset="0"/>
            </a:endParaRP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8477CBEB-BD0C-9FED-8AE0-50C56CD5CA07}"/>
              </a:ext>
            </a:extLst>
          </p:cNvPr>
          <p:cNvSpPr/>
          <p:nvPr/>
        </p:nvSpPr>
        <p:spPr>
          <a:xfrm>
            <a:off x="5536103" y="4880614"/>
            <a:ext cx="810781" cy="55518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185BF-960F-DED1-894C-8E4246528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0499" y="2792357"/>
            <a:ext cx="1191817" cy="947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3818A-9374-666B-CE5D-DCDB77AC7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1099" y="5006648"/>
            <a:ext cx="1206661" cy="928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55474-653A-81E2-3588-E497B448BE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6544" y="3921617"/>
            <a:ext cx="1175772" cy="915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F471DD-3ECA-5743-08A2-7C85272C1228}"/>
              </a:ext>
            </a:extLst>
          </p:cNvPr>
          <p:cNvSpPr txBox="1"/>
          <p:nvPr/>
        </p:nvSpPr>
        <p:spPr>
          <a:xfrm>
            <a:off x="2741647" y="3963900"/>
            <a:ext cx="2205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Black" panose="020B0004020202020204" pitchFamily="34" charset="0"/>
              </a:rPr>
              <a:t>GRU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Black" panose="020B0004020202020204" pitchFamily="34" charset="0"/>
              </a:rPr>
              <a:t>LSTM</a:t>
            </a:r>
            <a:endParaRPr lang="en-MY" sz="2400" b="1" dirty="0">
              <a:latin typeface="Aptos Black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B7DA1-F800-5F9C-D48A-D1CB93E014C8}"/>
              </a:ext>
            </a:extLst>
          </p:cNvPr>
          <p:cNvSpPr txBox="1"/>
          <p:nvPr/>
        </p:nvSpPr>
        <p:spPr>
          <a:xfrm>
            <a:off x="2741647" y="5104589"/>
            <a:ext cx="2205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Black" panose="020B0004020202020204" pitchFamily="34" charset="0"/>
              </a:rPr>
              <a:t>MLP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Aptos Black" panose="020B0004020202020204" pitchFamily="34" charset="0"/>
              </a:rPr>
              <a:t>ResCNN</a:t>
            </a:r>
            <a:endParaRPr lang="en-MY" sz="2400" b="1" dirty="0">
              <a:latin typeface="Aptos Black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85499B-94C3-142C-EA1C-EF6A06974762}"/>
              </a:ext>
            </a:extLst>
          </p:cNvPr>
          <p:cNvSpPr/>
          <p:nvPr/>
        </p:nvSpPr>
        <p:spPr>
          <a:xfrm>
            <a:off x="6446989" y="4603038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FC6837-D18A-E9F0-A606-349A125E471D}"/>
              </a:ext>
            </a:extLst>
          </p:cNvPr>
          <p:cNvSpPr/>
          <p:nvPr/>
        </p:nvSpPr>
        <p:spPr>
          <a:xfrm>
            <a:off x="7404867" y="4603036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725C04-1FD3-0735-335F-05C804E430B1}"/>
              </a:ext>
            </a:extLst>
          </p:cNvPr>
          <p:cNvSpPr/>
          <p:nvPr/>
        </p:nvSpPr>
        <p:spPr>
          <a:xfrm>
            <a:off x="8362745" y="4603036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2AA86F-3D50-3A74-7CDE-0D67F681965E}"/>
              </a:ext>
            </a:extLst>
          </p:cNvPr>
          <p:cNvSpPr/>
          <p:nvPr/>
        </p:nvSpPr>
        <p:spPr>
          <a:xfrm>
            <a:off x="9320623" y="4603036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608CCF-64F4-4ECD-2DB0-9CBAA0E0B2B9}"/>
              </a:ext>
            </a:extLst>
          </p:cNvPr>
          <p:cNvSpPr/>
          <p:nvPr/>
        </p:nvSpPr>
        <p:spPr>
          <a:xfrm>
            <a:off x="10281221" y="4603035"/>
            <a:ext cx="877739" cy="111034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53833D0C-11A7-A96D-FAD5-0A0166335427}"/>
              </a:ext>
            </a:extLst>
          </p:cNvPr>
          <p:cNvSpPr txBox="1"/>
          <p:nvPr/>
        </p:nvSpPr>
        <p:spPr>
          <a:xfrm>
            <a:off x="6446988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43" name="Text Box 1">
            <a:extLst>
              <a:ext uri="{FF2B5EF4-FFF2-40B4-BE49-F238E27FC236}">
                <a16:creationId xmlns:a16="http://schemas.microsoft.com/office/drawing/2014/main" id="{960BE3A1-8340-082F-0F44-2479CDE01F32}"/>
              </a:ext>
            </a:extLst>
          </p:cNvPr>
          <p:cNvSpPr txBox="1"/>
          <p:nvPr/>
        </p:nvSpPr>
        <p:spPr>
          <a:xfrm>
            <a:off x="7404866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44" name="Text Box 1">
            <a:extLst>
              <a:ext uri="{FF2B5EF4-FFF2-40B4-BE49-F238E27FC236}">
                <a16:creationId xmlns:a16="http://schemas.microsoft.com/office/drawing/2014/main" id="{578967BA-D124-0CF8-2F23-4A41C918FC23}"/>
              </a:ext>
            </a:extLst>
          </p:cNvPr>
          <p:cNvSpPr txBox="1"/>
          <p:nvPr/>
        </p:nvSpPr>
        <p:spPr>
          <a:xfrm>
            <a:off x="8362744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45" name="Text Box 1">
            <a:extLst>
              <a:ext uri="{FF2B5EF4-FFF2-40B4-BE49-F238E27FC236}">
                <a16:creationId xmlns:a16="http://schemas.microsoft.com/office/drawing/2014/main" id="{47C95F75-4E3E-C338-A2A9-CC5200417F49}"/>
              </a:ext>
            </a:extLst>
          </p:cNvPr>
          <p:cNvSpPr txBox="1"/>
          <p:nvPr/>
        </p:nvSpPr>
        <p:spPr>
          <a:xfrm>
            <a:off x="9320622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38ABA420-4214-28A8-D705-8CF63E078192}"/>
              </a:ext>
            </a:extLst>
          </p:cNvPr>
          <p:cNvSpPr txBox="1"/>
          <p:nvPr/>
        </p:nvSpPr>
        <p:spPr>
          <a:xfrm>
            <a:off x="10278500" y="4929893"/>
            <a:ext cx="877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  <a:sym typeface="+mn-ea"/>
              </a:rPr>
              <a:t>20%</a:t>
            </a:r>
            <a:endParaRPr lang="en-US" sz="24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B5ECF9-FD68-E6F8-929C-2ABEECEE4631}"/>
              </a:ext>
            </a:extLst>
          </p:cNvPr>
          <p:cNvGrpSpPr/>
          <p:nvPr/>
        </p:nvGrpSpPr>
        <p:grpSpPr>
          <a:xfrm>
            <a:off x="6875860" y="1908725"/>
            <a:ext cx="3843371" cy="2558875"/>
            <a:chOff x="6875860" y="1908725"/>
            <a:chExt cx="3843371" cy="2558875"/>
          </a:xfrm>
        </p:grpSpPr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423A818C-3E77-A195-697B-C3BA83B0A1E0}"/>
                </a:ext>
              </a:extLst>
            </p:cNvPr>
            <p:cNvSpPr txBox="1"/>
            <p:nvPr/>
          </p:nvSpPr>
          <p:spPr>
            <a:xfrm>
              <a:off x="6885857" y="3048833"/>
              <a:ext cx="3833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MY" sz="3200" b="1" dirty="0">
                  <a:latin typeface="Aptos Black" panose="020B0004020202020204" pitchFamily="34" charset="0"/>
                  <a:sym typeface="+mn-ea"/>
                </a:rPr>
                <a:t>Averaged F1-Score</a:t>
              </a:r>
              <a:endParaRPr lang="en-US" sz="3200" b="1" dirty="0">
                <a:latin typeface="Aptos Black" panose="020B0004020202020204" pitchFamily="34" charset="0"/>
              </a:endParaRPr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47F8CA99-11B2-4986-D6DF-8B6C9AF48F7A}"/>
                </a:ext>
              </a:extLst>
            </p:cNvPr>
            <p:cNvSpPr/>
            <p:nvPr/>
          </p:nvSpPr>
          <p:spPr>
            <a:xfrm rot="16200000" flipV="1">
              <a:off x="8377401" y="3641435"/>
              <a:ext cx="830291" cy="82204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3" name="Text Box 1">
              <a:extLst>
                <a:ext uri="{FF2B5EF4-FFF2-40B4-BE49-F238E27FC236}">
                  <a16:creationId xmlns:a16="http://schemas.microsoft.com/office/drawing/2014/main" id="{91E9799C-BD8A-6B44-D92A-61B948AD795D}"/>
                </a:ext>
              </a:extLst>
            </p:cNvPr>
            <p:cNvSpPr txBox="1"/>
            <p:nvPr/>
          </p:nvSpPr>
          <p:spPr>
            <a:xfrm>
              <a:off x="6875860" y="1908725"/>
              <a:ext cx="3833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MY" sz="3200" b="1" dirty="0">
                  <a:latin typeface="Aptos Black" panose="020B0004020202020204" pitchFamily="34" charset="0"/>
                  <a:sym typeface="+mn-ea"/>
                </a:rPr>
                <a:t>Averaged Accuracy</a:t>
              </a:r>
              <a:endParaRPr lang="en-US" sz="3200" b="1" dirty="0">
                <a:latin typeface="Aptos Black" panose="020B0004020202020204" pitchFamily="34" charset="0"/>
              </a:endParaRPr>
            </a:p>
          </p:txBody>
        </p:sp>
        <p:sp>
          <p:nvSpPr>
            <p:cNvPr id="54" name="Plus Sign 53">
              <a:extLst>
                <a:ext uri="{FF2B5EF4-FFF2-40B4-BE49-F238E27FC236}">
                  <a16:creationId xmlns:a16="http://schemas.microsoft.com/office/drawing/2014/main" id="{30BDC7FE-8B37-F09A-DF2D-CBFFEB234B3B}"/>
                </a:ext>
              </a:extLst>
            </p:cNvPr>
            <p:cNvSpPr/>
            <p:nvPr/>
          </p:nvSpPr>
          <p:spPr>
            <a:xfrm>
              <a:off x="8412310" y="2418294"/>
              <a:ext cx="778605" cy="705746"/>
            </a:xfrm>
            <a:prstGeom prst="mathPlu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8" name="Text Box 1">
            <a:extLst>
              <a:ext uri="{FF2B5EF4-FFF2-40B4-BE49-F238E27FC236}">
                <a16:creationId xmlns:a16="http://schemas.microsoft.com/office/drawing/2014/main" id="{8FDC12A7-676C-D910-9723-08F473FE08CC}"/>
              </a:ext>
            </a:extLst>
          </p:cNvPr>
          <p:cNvSpPr txBox="1"/>
          <p:nvPr/>
        </p:nvSpPr>
        <p:spPr>
          <a:xfrm>
            <a:off x="6217257" y="5685523"/>
            <a:ext cx="133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b="1" dirty="0">
                <a:latin typeface="Aptos Black" panose="020B0004020202020204" pitchFamily="34" charset="0"/>
                <a:sym typeface="+mn-ea"/>
              </a:rPr>
              <a:t>Accuracy</a:t>
            </a:r>
            <a:endParaRPr lang="en-US" b="1" dirty="0">
              <a:latin typeface="Aptos Black" panose="020B0004020202020204" pitchFamily="34" charset="0"/>
            </a:endParaRPr>
          </a:p>
        </p:txBody>
      </p:sp>
      <p:sp>
        <p:nvSpPr>
          <p:cNvPr id="59" name="Text Box 1">
            <a:extLst>
              <a:ext uri="{FF2B5EF4-FFF2-40B4-BE49-F238E27FC236}">
                <a16:creationId xmlns:a16="http://schemas.microsoft.com/office/drawing/2014/main" id="{AD47A48B-F009-7F0C-3A83-17C5332523D8}"/>
              </a:ext>
            </a:extLst>
          </p:cNvPr>
          <p:cNvSpPr txBox="1"/>
          <p:nvPr/>
        </p:nvSpPr>
        <p:spPr>
          <a:xfrm>
            <a:off x="6200284" y="5935248"/>
            <a:ext cx="137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b="1" dirty="0">
                <a:latin typeface="Aptos Black" panose="020B0004020202020204" pitchFamily="34" charset="0"/>
                <a:sym typeface="+mn-ea"/>
              </a:rPr>
              <a:t>F1-Score</a:t>
            </a:r>
            <a:endParaRPr lang="en-US" b="1" dirty="0">
              <a:latin typeface="Aptos Black" panose="020B0004020202020204" pitchFamily="34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D2C792D-3302-87A1-5665-F9E68F07049C}"/>
              </a:ext>
            </a:extLst>
          </p:cNvPr>
          <p:cNvGrpSpPr/>
          <p:nvPr/>
        </p:nvGrpSpPr>
        <p:grpSpPr>
          <a:xfrm>
            <a:off x="1306286" y="2012861"/>
            <a:ext cx="3928187" cy="729933"/>
            <a:chOff x="1306286" y="2031517"/>
            <a:chExt cx="3928187" cy="65798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D45061E-59F8-C44B-9B6A-2AF1DF4E482C}"/>
                </a:ext>
              </a:extLst>
            </p:cNvPr>
            <p:cNvSpPr/>
            <p:nvPr/>
          </p:nvSpPr>
          <p:spPr>
            <a:xfrm>
              <a:off x="1306286" y="2031517"/>
              <a:ext cx="3928187" cy="6166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6" name="Text Box 1">
              <a:extLst>
                <a:ext uri="{FF2B5EF4-FFF2-40B4-BE49-F238E27FC236}">
                  <a16:creationId xmlns:a16="http://schemas.microsoft.com/office/drawing/2014/main" id="{739D28CB-10B5-3AFC-C227-B31BDC7D1C0D}"/>
                </a:ext>
              </a:extLst>
            </p:cNvPr>
            <p:cNvSpPr txBox="1"/>
            <p:nvPr/>
          </p:nvSpPr>
          <p:spPr>
            <a:xfrm>
              <a:off x="1603198" y="2328828"/>
              <a:ext cx="3325552" cy="360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MY" altLang="zh-CN" sz="2000" b="1" dirty="0">
                  <a:latin typeface="Aptos Black" panose="020B0004020202020204" pitchFamily="34" charset="0"/>
                  <a:sym typeface="+mn-ea"/>
                </a:rPr>
                <a:t>Grid Search</a:t>
              </a:r>
              <a:endParaRPr lang="en-US" sz="2000" b="1" dirty="0">
                <a:latin typeface="Aptos Black" panose="020B0004020202020204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105F90-B692-00A9-DCCC-06E2B9139E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87729" y="2930124"/>
            <a:ext cx="523223" cy="814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5D780B-C58D-5C58-E66A-CDF344709C3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5722" y="4036342"/>
            <a:ext cx="523223" cy="814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9A66CF-8314-C2FF-0EA2-F9E4EB671C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5722" y="5157051"/>
            <a:ext cx="523223" cy="814751"/>
          </a:xfrm>
          <a:prstGeom prst="rect">
            <a:avLst/>
          </a:prstGeom>
        </p:spPr>
      </p:pic>
      <p:sp>
        <p:nvSpPr>
          <p:cNvPr id="13" name="Text Box 1">
            <a:extLst>
              <a:ext uri="{FF2B5EF4-FFF2-40B4-BE49-F238E27FC236}">
                <a16:creationId xmlns:a16="http://schemas.microsoft.com/office/drawing/2014/main" id="{4EA7C34F-2A87-B997-30B2-6F23FFA31E96}"/>
              </a:ext>
            </a:extLst>
          </p:cNvPr>
          <p:cNvSpPr txBox="1"/>
          <p:nvPr/>
        </p:nvSpPr>
        <p:spPr>
          <a:xfrm>
            <a:off x="1119675" y="1981886"/>
            <a:ext cx="4291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altLang="zh-CN" sz="2000" b="1" dirty="0">
                <a:latin typeface="Aptos Black" panose="020B0004020202020204" pitchFamily="34" charset="0"/>
                <a:sym typeface="+mn-ea"/>
              </a:rPr>
              <a:t>Hyperparameter Optimization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9FF882-6526-7791-227F-0C24144CAB70}"/>
              </a:ext>
            </a:extLst>
          </p:cNvPr>
          <p:cNvCxnSpPr>
            <a:cxnSpLocks/>
          </p:cNvCxnSpPr>
          <p:nvPr/>
        </p:nvCxnSpPr>
        <p:spPr>
          <a:xfrm>
            <a:off x="1352939" y="2364443"/>
            <a:ext cx="3862873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73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0" grpId="0" animBg="1"/>
      <p:bldP spid="33" grpId="0" animBg="1"/>
      <p:bldP spid="34" grpId="0" animBg="1"/>
      <p:bldP spid="35" grpId="0" animBg="1"/>
      <p:bldP spid="37" grpId="0" animBg="1"/>
      <p:bldP spid="39" grpId="0" animBg="1"/>
      <p:bldP spid="41" grpId="0"/>
      <p:bldP spid="43" grpId="0"/>
      <p:bldP spid="44" grpId="0"/>
      <p:bldP spid="45" grpId="0"/>
      <p:bldP spid="47" grpId="0"/>
      <p:bldP spid="58" grpId="0"/>
      <p:bldP spid="59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449C"/>
          </a:solidFill>
          <a:ln>
            <a:solidFill>
              <a:srgbClr val="1544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1" y="2967335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ExtraBold" panose="020B0004020202020204" pitchFamily="34" charset="0"/>
              </a:rPr>
              <a:t>Results and Discussion</a:t>
            </a:r>
            <a:endParaRPr lang="en-SG" sz="540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ExtraBold" panose="020B00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19BF-9F8D-10B0-7973-36894720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2F38E3-C884-35C9-E190-484CCCCBE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020BF7-8C50-AE08-C80E-F27B4742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46" y="1838766"/>
            <a:ext cx="10370188" cy="40700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BD3612-66C7-8FC5-F8EB-BC44978C7314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2DE07-A3B2-3AA3-9C8D-082869346EE9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Single-Modality Models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2D6659-BA0F-4ABF-C4AE-9920509F494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78281" y="1829035"/>
            <a:ext cx="575792" cy="6181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C12F0A2-D713-18C5-9AB8-0170714330D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4405" y="1829034"/>
            <a:ext cx="575792" cy="61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6F13-9856-3CEE-F782-BBF01053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48C21-3190-FB2C-E2B2-4A4072B2D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4A46EC-AF15-660A-65B9-021F95002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46" y="1838766"/>
            <a:ext cx="10370188" cy="40700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22AC6C-6DC7-6190-5465-F5EDE3F7D1CF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725F6-4265-584A-973C-FB781ECFAB6C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Single-Modality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F0FB5-37E9-C70E-F238-F0514683D3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82949" y="3655768"/>
            <a:ext cx="418640" cy="651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29088-17A3-8996-E4AD-52313C864C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48731" y="3655768"/>
            <a:ext cx="418640" cy="651897"/>
          </a:xfrm>
          <a:prstGeom prst="rect">
            <a:avLst/>
          </a:prstGeom>
        </p:spPr>
      </p:pic>
      <p:sp>
        <p:nvSpPr>
          <p:cNvPr id="7" name="Text Box 1">
            <a:extLst>
              <a:ext uri="{FF2B5EF4-FFF2-40B4-BE49-F238E27FC236}">
                <a16:creationId xmlns:a16="http://schemas.microsoft.com/office/drawing/2014/main" id="{2E6F0374-F495-1A6D-3297-1A001CEAC2A3}"/>
              </a:ext>
            </a:extLst>
          </p:cNvPr>
          <p:cNvSpPr txBox="1"/>
          <p:nvPr/>
        </p:nvSpPr>
        <p:spPr>
          <a:xfrm>
            <a:off x="2776530" y="1780600"/>
            <a:ext cx="7511143" cy="461665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sz="2400" b="1" dirty="0">
                <a:latin typeface="Aptos Black" panose="020B0004020202020204" pitchFamily="34" charset="0"/>
                <a:sym typeface="+mn-ea"/>
              </a:rPr>
              <a:t>BERT may work better as an embedding generator.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98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335F-BE06-BA7C-FD38-5E920460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03AA8-27E3-164C-B669-4DA4AD24B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907907-0205-9353-6B7D-2726FA355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46" y="1838766"/>
            <a:ext cx="10370188" cy="40700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C61B2F-E371-19C7-EA12-AA583D37F000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9FE9A-29AB-08D0-DD15-1F8518A12CFA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Single-Modality Models</a:t>
            </a: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2707AA74-199E-0F4B-9D5D-DB5DBCA251BC}"/>
              </a:ext>
            </a:extLst>
          </p:cNvPr>
          <p:cNvSpPr txBox="1"/>
          <p:nvPr/>
        </p:nvSpPr>
        <p:spPr>
          <a:xfrm>
            <a:off x="1931434" y="1782238"/>
            <a:ext cx="9489233" cy="461665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Aptos Black" panose="020B0004020202020204" pitchFamily="34" charset="0"/>
                <a:sym typeface="+mn-ea"/>
              </a:rPr>
              <a:t>Text is the most informative modality for emotion recognition.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D4E9772-CB03-DB60-3A71-7227F71DA515}"/>
              </a:ext>
            </a:extLst>
          </p:cNvPr>
          <p:cNvSpPr/>
          <p:nvPr/>
        </p:nvSpPr>
        <p:spPr>
          <a:xfrm rot="16200000">
            <a:off x="4777893" y="2707468"/>
            <a:ext cx="429208" cy="2295334"/>
          </a:xfrm>
          <a:prstGeom prst="rightBrace">
            <a:avLst>
              <a:gd name="adj1" fmla="val 2789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35527DA4-5CBF-C479-B383-F593CB84F951}"/>
              </a:ext>
            </a:extLst>
          </p:cNvPr>
          <p:cNvSpPr/>
          <p:nvPr/>
        </p:nvSpPr>
        <p:spPr>
          <a:xfrm rot="16200000">
            <a:off x="9352385" y="2707468"/>
            <a:ext cx="429208" cy="2295334"/>
          </a:xfrm>
          <a:prstGeom prst="rightBrace">
            <a:avLst>
              <a:gd name="adj1" fmla="val 2789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112DD4-363B-8AF7-44E4-FB6E8AA7E5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759" y="2958411"/>
            <a:ext cx="649475" cy="645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4F4649-070B-3532-1E52-1422D64B4A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251" y="2962007"/>
            <a:ext cx="649475" cy="64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4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01EF-4730-DEB9-BD9F-C8A99F35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CEAACB-8DD1-B3A3-2459-03691A1130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02CD3-F428-BD83-C4E2-24E05B61E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46" y="1840961"/>
            <a:ext cx="10370188" cy="41230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4DF42B-BEC4-B2B7-C621-163CBB038491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57B40-1682-4A5D-D6D9-1BE10BBDC9E6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Multimodal Models (Hard Voting)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67D8AB-15D2-3B80-66DE-1A857942411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6665" y="1661964"/>
            <a:ext cx="575792" cy="6181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30C48B-06D5-0DA3-16E3-1C82077208A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5715" y="1661965"/>
            <a:ext cx="575792" cy="6181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C813E9-1669-2729-31DC-D52FB97E9DD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19107" y="1661965"/>
            <a:ext cx="575792" cy="6181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5303B13-FFBB-F051-2A03-2B6246395B6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90057" y="1661965"/>
            <a:ext cx="575792" cy="6181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6A7926-7322-13C7-BF98-BF3499D6AE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9" t="21630" r="52935" b="24670"/>
          <a:stretch>
            <a:fillRect/>
          </a:stretch>
        </p:blipFill>
        <p:spPr>
          <a:xfrm>
            <a:off x="2063201" y="5947762"/>
            <a:ext cx="428074" cy="365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D1A5D1-B6BE-B9D5-72D2-76CF826EB5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9" t="21630" r="52935" b="24670"/>
          <a:stretch>
            <a:fillRect/>
          </a:stretch>
        </p:blipFill>
        <p:spPr>
          <a:xfrm>
            <a:off x="4010265" y="5947762"/>
            <a:ext cx="428074" cy="365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098365-A805-354D-5528-F614343BBA5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9" t="21630" r="52935" b="24670"/>
          <a:stretch>
            <a:fillRect/>
          </a:stretch>
        </p:blipFill>
        <p:spPr>
          <a:xfrm>
            <a:off x="8219107" y="5947762"/>
            <a:ext cx="428074" cy="3654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336CC9-C0E3-E3B3-9A0C-910F21B2E206}"/>
              </a:ext>
            </a:extLst>
          </p:cNvPr>
          <p:cNvSpPr/>
          <p:nvPr/>
        </p:nvSpPr>
        <p:spPr>
          <a:xfrm>
            <a:off x="1715459" y="5598618"/>
            <a:ext cx="5907651" cy="36543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87D41B-386E-C6DD-FA5C-5B0B3D07963E}"/>
              </a:ext>
            </a:extLst>
          </p:cNvPr>
          <p:cNvSpPr/>
          <p:nvPr/>
        </p:nvSpPr>
        <p:spPr>
          <a:xfrm>
            <a:off x="7828383" y="5598618"/>
            <a:ext cx="2601503" cy="3491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0A910-0D20-0D4B-A194-ADB1ED0566D0}"/>
              </a:ext>
            </a:extLst>
          </p:cNvPr>
          <p:cNvSpPr/>
          <p:nvPr/>
        </p:nvSpPr>
        <p:spPr>
          <a:xfrm rot="10800000">
            <a:off x="2082162" y="2444620"/>
            <a:ext cx="556965" cy="243529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Text-only Baseline</a:t>
            </a:r>
            <a:endParaRPr lang="en-MY" sz="2000" b="1" dirty="0">
              <a:solidFill>
                <a:schemeClr val="tx1"/>
              </a:solidFill>
              <a:latin typeface="Aptos Black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C715F7-F1EF-3B60-3AB8-AD5D30A8BA49}"/>
              </a:ext>
            </a:extLst>
          </p:cNvPr>
          <p:cNvSpPr/>
          <p:nvPr/>
        </p:nvSpPr>
        <p:spPr>
          <a:xfrm rot="10800000">
            <a:off x="6629283" y="2444620"/>
            <a:ext cx="556965" cy="243529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Text-only Baseline</a:t>
            </a:r>
            <a:endParaRPr lang="en-MY" sz="2000" b="1" dirty="0">
              <a:solidFill>
                <a:schemeClr val="tx1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4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61093-1B3A-03C6-003B-E9AC7761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BE1F6-2264-8E6C-C999-9C6C1A52BF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3FECAE-0B41-B5EC-378F-94072E4411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66" b="10453"/>
          <a:stretch>
            <a:fillRect/>
          </a:stretch>
        </p:blipFill>
        <p:spPr>
          <a:xfrm>
            <a:off x="917746" y="1840962"/>
            <a:ext cx="5178254" cy="3692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91B79E-9223-2A66-03C6-8F0B0B51B58F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F6369-F1D7-C367-9279-D41795031604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Limitation of Hard Voting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3FA73-40E7-9CC9-76DC-27B981A6A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66495" t="91508" r="8287"/>
          <a:stretch>
            <a:fillRect/>
          </a:stretch>
        </p:blipFill>
        <p:spPr>
          <a:xfrm>
            <a:off x="2796034" y="5607702"/>
            <a:ext cx="2615066" cy="350130"/>
          </a:xfrm>
          <a:prstGeom prst="rect">
            <a:avLst/>
          </a:prstGeom>
        </p:spPr>
      </p:pic>
      <p:sp>
        <p:nvSpPr>
          <p:cNvPr id="8" name="Text Box 1">
            <a:extLst>
              <a:ext uri="{FF2B5EF4-FFF2-40B4-BE49-F238E27FC236}">
                <a16:creationId xmlns:a16="http://schemas.microsoft.com/office/drawing/2014/main" id="{D410EE89-3CF0-BFEC-D006-3F3CDD54251E}"/>
              </a:ext>
            </a:extLst>
          </p:cNvPr>
          <p:cNvSpPr txBox="1"/>
          <p:nvPr/>
        </p:nvSpPr>
        <p:spPr>
          <a:xfrm>
            <a:off x="6567008" y="4038042"/>
            <a:ext cx="49892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latin typeface="Aptos Black" panose="020B0004020202020204" pitchFamily="34" charset="0"/>
                <a:sym typeface="+mn-ea"/>
              </a:rPr>
              <a:t>Contribution analysis reveals that text is the most informative modality but hard voting assigns equal weight to all modalities.</a:t>
            </a:r>
            <a:endParaRPr lang="en-US" sz="2400" b="1" dirty="0">
              <a:latin typeface="Aptos Black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C11C73-A214-6A9C-DBB6-D25F959A62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55567" y="2215855"/>
            <a:ext cx="915998" cy="728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7C362A-D86F-0FB9-2D12-4362E981D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9132" y="2225187"/>
            <a:ext cx="927406" cy="713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64B8D1-8D85-4441-44AF-502077FFCF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7426" y="2242211"/>
            <a:ext cx="903666" cy="703675"/>
          </a:xfrm>
          <a:prstGeom prst="rect">
            <a:avLst/>
          </a:prstGeom>
        </p:spPr>
      </p:pic>
      <p:sp>
        <p:nvSpPr>
          <p:cNvPr id="12" name="Text Box 1">
            <a:extLst>
              <a:ext uri="{FF2B5EF4-FFF2-40B4-BE49-F238E27FC236}">
                <a16:creationId xmlns:a16="http://schemas.microsoft.com/office/drawing/2014/main" id="{B9A9B7ED-A441-C577-972F-E90D99533934}"/>
              </a:ext>
            </a:extLst>
          </p:cNvPr>
          <p:cNvSpPr txBox="1"/>
          <p:nvPr/>
        </p:nvSpPr>
        <p:spPr>
          <a:xfrm>
            <a:off x="7079399" y="2916155"/>
            <a:ext cx="12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46%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13" name="Text Box 1">
            <a:extLst>
              <a:ext uri="{FF2B5EF4-FFF2-40B4-BE49-F238E27FC236}">
                <a16:creationId xmlns:a16="http://schemas.microsoft.com/office/drawing/2014/main" id="{27F770D5-B18C-282D-9892-52471B88EE88}"/>
              </a:ext>
            </a:extLst>
          </p:cNvPr>
          <p:cNvSpPr txBox="1"/>
          <p:nvPr/>
        </p:nvSpPr>
        <p:spPr>
          <a:xfrm>
            <a:off x="8522791" y="2916154"/>
            <a:ext cx="12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26%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14" name="Text Box 1">
            <a:extLst>
              <a:ext uri="{FF2B5EF4-FFF2-40B4-BE49-F238E27FC236}">
                <a16:creationId xmlns:a16="http://schemas.microsoft.com/office/drawing/2014/main" id="{04ED5538-FB70-8D50-0537-8E969B0D140E}"/>
              </a:ext>
            </a:extLst>
          </p:cNvPr>
          <p:cNvSpPr txBox="1"/>
          <p:nvPr/>
        </p:nvSpPr>
        <p:spPr>
          <a:xfrm>
            <a:off x="9938190" y="2916153"/>
            <a:ext cx="1268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latin typeface="Aptos Black" panose="020B0004020202020204" pitchFamily="34" charset="0"/>
                <a:sym typeface="+mn-ea"/>
              </a:rPr>
              <a:t>28%</a:t>
            </a:r>
            <a:endParaRPr lang="en-US" sz="3200" b="1" dirty="0">
              <a:latin typeface="Aptos Black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B5F6B-E3B5-BF0E-4F41-614C2338BD91}"/>
              </a:ext>
            </a:extLst>
          </p:cNvPr>
          <p:cNvSpPr/>
          <p:nvPr/>
        </p:nvSpPr>
        <p:spPr>
          <a:xfrm rot="10800000">
            <a:off x="2082162" y="2444620"/>
            <a:ext cx="556965" cy="243529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Black" panose="020B0004020202020204" pitchFamily="34" charset="0"/>
              </a:rPr>
              <a:t>Text-only Baseline</a:t>
            </a:r>
            <a:endParaRPr lang="en-MY" sz="2000" b="1" dirty="0">
              <a:solidFill>
                <a:schemeClr val="tx1"/>
              </a:solidFill>
              <a:latin typeface="Aptos Black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8506E3-3AC9-3CD9-9A7B-80DAC035E57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2203343" y="1748122"/>
            <a:ext cx="438231" cy="6824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7843A1-BAC8-E957-6349-2A45C8281A5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453269" y="2225186"/>
            <a:ext cx="438231" cy="6824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526EEA-447A-E6E7-DEA0-4067D89C3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26671" t="77707" r="49538" b="9818"/>
          <a:stretch>
            <a:fillRect/>
          </a:stretch>
        </p:blipFill>
        <p:spPr>
          <a:xfrm>
            <a:off x="3522079" y="5018704"/>
            <a:ext cx="24669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EEB8-E657-EBC7-9075-799C8427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5198D-47F4-EFC3-0BFD-17744003D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6245E0-F2FE-5DF3-DA70-15055E2A38B3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97055-C0F8-FBB4-0B1E-891FF1EF71FC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Ensemble Methods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93EF9D-B916-8B90-08DD-F26F5FA8F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45758"/>
              </p:ext>
            </p:extLst>
          </p:nvPr>
        </p:nvGraphicFramePr>
        <p:xfrm>
          <a:off x="653142" y="1784168"/>
          <a:ext cx="10977750" cy="385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09">
                  <a:extLst>
                    <a:ext uri="{9D8B030D-6E8A-4147-A177-3AD203B41FA5}">
                      <a16:colId xmlns:a16="http://schemas.microsoft.com/office/drawing/2014/main" val="1819819910"/>
                    </a:ext>
                  </a:extLst>
                </a:gridCol>
                <a:gridCol w="2519265">
                  <a:extLst>
                    <a:ext uri="{9D8B030D-6E8A-4147-A177-3AD203B41FA5}">
                      <a16:colId xmlns:a16="http://schemas.microsoft.com/office/drawing/2014/main" val="2224354713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669046995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539317675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2435252296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3722314979"/>
                    </a:ext>
                  </a:extLst>
                </a:gridCol>
              </a:tblGrid>
              <a:tr h="428037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Score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Combination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Hard Voting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Soft Voting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Stacking</a:t>
                      </a:r>
                      <a:endParaRPr lang="en-MY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AdaBoost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66757"/>
                  </a:ext>
                </a:extLst>
              </a:tr>
              <a:tr h="428037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SG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0.8135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1155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0.8149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0.8239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0.8151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202577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0.5232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0.5360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0.5484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0.5244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296537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0.7421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0.8322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Aptos Black" panose="020B0004020202020204" pitchFamily="34" charset="0"/>
                          <a:ea typeface="+mn-ea"/>
                          <a:cs typeface="+mn-cs"/>
                        </a:rPr>
                        <a:t>0.8363</a:t>
                      </a:r>
                      <a:endParaRPr lang="en-MY" sz="2000" b="1" kern="1200" dirty="0">
                        <a:solidFill>
                          <a:srgbClr val="FF0000"/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0.8212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85515"/>
                  </a:ext>
                </a:extLst>
              </a:tr>
              <a:tr h="42803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0.8246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0.8136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331611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0.8149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0.8152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69569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0.5163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0.5254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0.5454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0.5212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709850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Text+Audio+Visual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0.7427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0.8323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Aptos Black" panose="020B0004020202020204" pitchFamily="34" charset="0"/>
                          <a:ea typeface="+mn-ea"/>
                          <a:cs typeface="+mn-cs"/>
                        </a:rPr>
                        <a:t>0.8365</a:t>
                      </a:r>
                      <a:endParaRPr lang="en-MY" sz="2000" b="1" kern="1200" dirty="0">
                        <a:solidFill>
                          <a:srgbClr val="FF0000"/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0.8211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788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A124510-B599-A50D-DDCF-D0F5C1419BB5}"/>
              </a:ext>
            </a:extLst>
          </p:cNvPr>
          <p:cNvSpPr/>
          <p:nvPr/>
        </p:nvSpPr>
        <p:spPr>
          <a:xfrm>
            <a:off x="8061649" y="1784168"/>
            <a:ext cx="1791478" cy="3852333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8DFED-B373-6479-84B8-30FA62BD9A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03604" y="3427786"/>
            <a:ext cx="418640" cy="651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18CD6A-1AF7-F1F1-03C7-80A34444E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03603" y="5157586"/>
            <a:ext cx="418640" cy="65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0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2EE9-E151-A274-6C2C-0914AE3C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5ABB9-F4C7-1833-D923-8A4E5924A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FE37FE-5233-5753-99DE-6033EBE8845A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CBEDD-D1B5-5CDC-1D66-53E21532624D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Comparison of Ensemble Methods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C835C0-AF7D-E924-D8F6-9D0460FD76CE}"/>
              </a:ext>
            </a:extLst>
          </p:cNvPr>
          <p:cNvGraphicFramePr>
            <a:graphicFrameLocks noGrp="1"/>
          </p:cNvGraphicFramePr>
          <p:nvPr/>
        </p:nvGraphicFramePr>
        <p:xfrm>
          <a:off x="653142" y="1784168"/>
          <a:ext cx="10977750" cy="385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09">
                  <a:extLst>
                    <a:ext uri="{9D8B030D-6E8A-4147-A177-3AD203B41FA5}">
                      <a16:colId xmlns:a16="http://schemas.microsoft.com/office/drawing/2014/main" val="1819819910"/>
                    </a:ext>
                  </a:extLst>
                </a:gridCol>
                <a:gridCol w="2519265">
                  <a:extLst>
                    <a:ext uri="{9D8B030D-6E8A-4147-A177-3AD203B41FA5}">
                      <a16:colId xmlns:a16="http://schemas.microsoft.com/office/drawing/2014/main" val="2224354713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669046995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539317675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2435252296"/>
                    </a:ext>
                  </a:extLst>
                </a:gridCol>
                <a:gridCol w="1778719">
                  <a:extLst>
                    <a:ext uri="{9D8B030D-6E8A-4147-A177-3AD203B41FA5}">
                      <a16:colId xmlns:a16="http://schemas.microsoft.com/office/drawing/2014/main" val="3722314979"/>
                    </a:ext>
                  </a:extLst>
                </a:gridCol>
              </a:tblGrid>
              <a:tr h="428037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Score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Combination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Hard Voting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Soft Voting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Stacking</a:t>
                      </a:r>
                      <a:endParaRPr lang="en-MY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AdaBoost</a:t>
                      </a:r>
                      <a:endParaRPr lang="en-MY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66757"/>
                  </a:ext>
                </a:extLst>
              </a:tr>
              <a:tr h="428037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SG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0.8135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41155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0.8149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0.8239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0.8151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202577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0.5232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0.5360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0.5484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0.5244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296537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0.7421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0.8322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Aptos Black" panose="020B0004020202020204" pitchFamily="34" charset="0"/>
                          <a:ea typeface="+mn-ea"/>
                          <a:cs typeface="+mn-cs"/>
                        </a:rPr>
                        <a:t>0.8363</a:t>
                      </a:r>
                      <a:endParaRPr lang="en-MY" sz="2000" b="1" kern="1200" dirty="0">
                        <a:solidFill>
                          <a:srgbClr val="FF0000"/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0.8212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85515"/>
                  </a:ext>
                </a:extLst>
              </a:tr>
              <a:tr h="42803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F1-score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0.8246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0.8136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331611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0.8149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0.8240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0.8232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0.8152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69569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Audio+Visual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0.5163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0.5254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0.5454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0.5212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709850"/>
                  </a:ext>
                </a:extLst>
              </a:tr>
              <a:tr h="4280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Text+Audio+Visual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0.7427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0.8323</a:t>
                      </a:r>
                      <a:endParaRPr lang="en-MY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Aptos Black" panose="020B0004020202020204" pitchFamily="34" charset="0"/>
                          <a:ea typeface="+mn-ea"/>
                          <a:cs typeface="+mn-cs"/>
                        </a:rPr>
                        <a:t>0.8365</a:t>
                      </a:r>
                      <a:endParaRPr lang="en-MY" sz="2000" b="1" kern="1200" dirty="0">
                        <a:solidFill>
                          <a:srgbClr val="FF0000"/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0.8211</a:t>
                      </a:r>
                      <a:endParaRPr lang="en-MY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13788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0CF91F5-1DA2-B700-CBB3-690357C43062}"/>
              </a:ext>
            </a:extLst>
          </p:cNvPr>
          <p:cNvSpPr/>
          <p:nvPr/>
        </p:nvSpPr>
        <p:spPr>
          <a:xfrm>
            <a:off x="438539" y="1698171"/>
            <a:ext cx="7613780" cy="411480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bg1"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97CBDF-55F5-8C43-9E8C-A167F7D900ED}"/>
              </a:ext>
            </a:extLst>
          </p:cNvPr>
          <p:cNvSpPr/>
          <p:nvPr/>
        </p:nvSpPr>
        <p:spPr>
          <a:xfrm>
            <a:off x="9871789" y="1652934"/>
            <a:ext cx="2043403" cy="41148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solidFill>
              <a:schemeClr val="bg1"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F246E980-C9C7-2C70-4D3C-3295EE5AB741}"/>
              </a:ext>
            </a:extLst>
          </p:cNvPr>
          <p:cNvSpPr txBox="1"/>
          <p:nvPr/>
        </p:nvSpPr>
        <p:spPr>
          <a:xfrm>
            <a:off x="1618582" y="2632186"/>
            <a:ext cx="56690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Aptos Black" panose="020B0004020202020204" pitchFamily="34" charset="0"/>
                <a:sym typeface="+mn-ea"/>
              </a:rPr>
              <a:t>Introducing complementary modalities to text can provide additional emotional cues, but this effect is influenced by the effectiveness of fusion.</a:t>
            </a:r>
          </a:p>
        </p:txBody>
      </p:sp>
    </p:spTree>
    <p:extLst>
      <p:ext uri="{BB962C8B-B14F-4D97-AF65-F5344CB8AC3E}">
        <p14:creationId xmlns:p14="http://schemas.microsoft.com/office/powerpoint/2010/main" val="1545727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449C"/>
          </a:solidFill>
          <a:ln>
            <a:solidFill>
              <a:srgbClr val="1544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61109" y="2967335"/>
            <a:ext cx="11069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Conclusion and Future Work</a:t>
            </a:r>
            <a:endParaRPr lang="en-SG" sz="540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Black" panose="020B00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7CD3-4FF9-5C40-7CED-FA88171F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E3DC1-FB2A-F3A1-6DF9-559EBDBCE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E2AF87-CA21-4C4F-E5F5-E09B613B804D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B1269-2A92-B5A9-4B27-8E94378D1E33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Conclusion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31A558-C77E-DD87-8081-8DFC0035C3A5}"/>
              </a:ext>
            </a:extLst>
          </p:cNvPr>
          <p:cNvGrpSpPr/>
          <p:nvPr/>
        </p:nvGrpSpPr>
        <p:grpSpPr>
          <a:xfrm>
            <a:off x="1" y="1796307"/>
            <a:ext cx="6540758" cy="681362"/>
            <a:chOff x="1" y="1695024"/>
            <a:chExt cx="6540758" cy="681362"/>
          </a:xfrm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C464B73B-AA17-776D-A11B-62F26DA821A7}"/>
                </a:ext>
              </a:extLst>
            </p:cNvPr>
            <p:cNvSpPr/>
            <p:nvPr/>
          </p:nvSpPr>
          <p:spPr>
            <a:xfrm>
              <a:off x="1" y="1695024"/>
              <a:ext cx="6540758" cy="681362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17" name="Text Box 1">
              <a:extLst>
                <a:ext uri="{FF2B5EF4-FFF2-40B4-BE49-F238E27FC236}">
                  <a16:creationId xmlns:a16="http://schemas.microsoft.com/office/drawing/2014/main" id="{BF61D7CB-D0B1-74AF-9494-09F47583917C}"/>
                </a:ext>
              </a:extLst>
            </p:cNvPr>
            <p:cNvSpPr txBox="1"/>
            <p:nvPr/>
          </p:nvSpPr>
          <p:spPr>
            <a:xfrm>
              <a:off x="158619" y="1770618"/>
              <a:ext cx="61488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1"/>
                  </a:solidFill>
                  <a:sym typeface="+mn-ea"/>
                </a:rPr>
                <a:t>1. Text is the most informative modality. 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7F20AC-6DB6-5BC2-4864-D119ACBC6F97}"/>
              </a:ext>
            </a:extLst>
          </p:cNvPr>
          <p:cNvGrpSpPr/>
          <p:nvPr/>
        </p:nvGrpSpPr>
        <p:grpSpPr>
          <a:xfrm>
            <a:off x="830423" y="2753385"/>
            <a:ext cx="11364674" cy="681362"/>
            <a:chOff x="830423" y="2606805"/>
            <a:chExt cx="11364674" cy="681362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0DFA5B40-8749-D1D2-05F8-8B48650F2C4C}"/>
                </a:ext>
              </a:extLst>
            </p:cNvPr>
            <p:cNvSpPr/>
            <p:nvPr/>
          </p:nvSpPr>
          <p:spPr>
            <a:xfrm flipH="1">
              <a:off x="830423" y="2606805"/>
              <a:ext cx="11364674" cy="681362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6BA5C7"/>
            </a:solidFill>
            <a:ln>
              <a:solidFill>
                <a:srgbClr val="6BA5C7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25" name="Text Box 1">
              <a:extLst>
                <a:ext uri="{FF2B5EF4-FFF2-40B4-BE49-F238E27FC236}">
                  <a16:creationId xmlns:a16="http://schemas.microsoft.com/office/drawing/2014/main" id="{0363520E-D38A-9CA6-9AE7-ECEEF3FF9988}"/>
                </a:ext>
              </a:extLst>
            </p:cNvPr>
            <p:cNvSpPr txBox="1"/>
            <p:nvPr/>
          </p:nvSpPr>
          <p:spPr>
            <a:xfrm>
              <a:off x="1017037" y="2683213"/>
              <a:ext cx="11103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b="1" dirty="0">
                  <a:latin typeface="Aptos ExtraBold" panose="020B0004020202020204" pitchFamily="34" charset="0"/>
                  <a:sym typeface="+mn-ea"/>
                </a:rPr>
                <a:t>2. Different modalities can improve performance when combined.</a:t>
              </a:r>
              <a:endParaRPr lang="en-US" sz="2800" b="1" dirty="0">
                <a:latin typeface="Aptos ExtraBold" panose="020B00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62C3F7-899C-70DE-1749-C6F71A98E888}"/>
              </a:ext>
            </a:extLst>
          </p:cNvPr>
          <p:cNvGrpSpPr/>
          <p:nvPr/>
        </p:nvGrpSpPr>
        <p:grpSpPr>
          <a:xfrm>
            <a:off x="-3105" y="3725000"/>
            <a:ext cx="10528230" cy="681362"/>
            <a:chOff x="-14632" y="3454709"/>
            <a:chExt cx="10349563" cy="681362"/>
          </a:xfrm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4EC959C4-2C67-9528-B739-410329B4C2DD}"/>
                </a:ext>
              </a:extLst>
            </p:cNvPr>
            <p:cNvSpPr/>
            <p:nvPr/>
          </p:nvSpPr>
          <p:spPr>
            <a:xfrm>
              <a:off x="-14632" y="3454709"/>
              <a:ext cx="10349563" cy="681362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29" name="Text Box 1">
              <a:extLst>
                <a:ext uri="{FF2B5EF4-FFF2-40B4-BE49-F238E27FC236}">
                  <a16:creationId xmlns:a16="http://schemas.microsoft.com/office/drawing/2014/main" id="{70A2CEF0-56B9-2A34-A4E8-24DD933C2D7D}"/>
                </a:ext>
              </a:extLst>
            </p:cNvPr>
            <p:cNvSpPr txBox="1"/>
            <p:nvPr/>
          </p:nvSpPr>
          <p:spPr>
            <a:xfrm>
              <a:off x="158621" y="3536961"/>
              <a:ext cx="98954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1"/>
                  </a:solidFill>
                  <a:sym typeface="+mn-ea"/>
                </a:rPr>
                <a:t>3. Multimodal inputs are useful, but they must be chosen carefully.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344A33-79D2-A7FF-7100-080AEC5F71EB}"/>
              </a:ext>
            </a:extLst>
          </p:cNvPr>
          <p:cNvGrpSpPr/>
          <p:nvPr/>
        </p:nvGrpSpPr>
        <p:grpSpPr>
          <a:xfrm>
            <a:off x="561109" y="4696615"/>
            <a:ext cx="11620230" cy="679535"/>
            <a:chOff x="565551" y="4416146"/>
            <a:chExt cx="11620230" cy="679535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0E7938D3-7B89-540C-5F42-EA23C004F270}"/>
                </a:ext>
              </a:extLst>
            </p:cNvPr>
            <p:cNvSpPr/>
            <p:nvPr/>
          </p:nvSpPr>
          <p:spPr>
            <a:xfrm flipH="1">
              <a:off x="680716" y="4416146"/>
              <a:ext cx="11505065" cy="679535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6BA5C7"/>
            </a:solidFill>
            <a:ln>
              <a:solidFill>
                <a:srgbClr val="6BA5C7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Text Box 1">
              <a:extLst>
                <a:ext uri="{FF2B5EF4-FFF2-40B4-BE49-F238E27FC236}">
                  <a16:creationId xmlns:a16="http://schemas.microsoft.com/office/drawing/2014/main" id="{3EECA3F8-64AF-583A-1A02-A3A14E32EB47}"/>
                </a:ext>
              </a:extLst>
            </p:cNvPr>
            <p:cNvSpPr txBox="1"/>
            <p:nvPr/>
          </p:nvSpPr>
          <p:spPr>
            <a:xfrm>
              <a:off x="565551" y="4494303"/>
              <a:ext cx="115554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b="1" dirty="0">
                  <a:latin typeface="Aptos ExtraBold" panose="020B0004020202020204" pitchFamily="34" charset="0"/>
                  <a:sym typeface="+mn-ea"/>
                </a:rPr>
                <a:t>4. Hard voting is ineffective as the modalities contribute unequally.</a:t>
              </a:r>
              <a:endParaRPr lang="en-US" sz="2800" b="1" dirty="0">
                <a:latin typeface="Aptos ExtraBold" panose="020B00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6889C4D-B679-4FBD-BF6C-033016102BE6}"/>
              </a:ext>
            </a:extLst>
          </p:cNvPr>
          <p:cNvGrpSpPr/>
          <p:nvPr/>
        </p:nvGrpSpPr>
        <p:grpSpPr>
          <a:xfrm>
            <a:off x="66675" y="5633969"/>
            <a:ext cx="8982075" cy="681362"/>
            <a:chOff x="52499" y="3457890"/>
            <a:chExt cx="9043534" cy="681362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FAFE9FA-5825-9BED-0CE9-E8B61DFA1E51}"/>
                </a:ext>
              </a:extLst>
            </p:cNvPr>
            <p:cNvSpPr/>
            <p:nvPr/>
          </p:nvSpPr>
          <p:spPr>
            <a:xfrm>
              <a:off x="52499" y="3457890"/>
              <a:ext cx="9043534" cy="681362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002060"/>
            </a:solidFill>
            <a:ln>
              <a:solidFill>
                <a:srgbClr val="00206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7" name="Text Box 1">
              <a:extLst>
                <a:ext uri="{FF2B5EF4-FFF2-40B4-BE49-F238E27FC236}">
                  <a16:creationId xmlns:a16="http://schemas.microsoft.com/office/drawing/2014/main" id="{01D88C81-2779-9D90-1D9D-59045A807E57}"/>
                </a:ext>
              </a:extLst>
            </p:cNvPr>
            <p:cNvSpPr txBox="1"/>
            <p:nvPr/>
          </p:nvSpPr>
          <p:spPr>
            <a:xfrm>
              <a:off x="158621" y="3536961"/>
              <a:ext cx="86688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1"/>
                  </a:solidFill>
                  <a:sym typeface="+mn-ea"/>
                </a:rPr>
                <a:t>5. </a:t>
              </a:r>
              <a:r>
                <a:rPr lang="en-US" sz="2800" b="1" dirty="0">
                  <a:solidFill>
                    <a:schemeClr val="bg1"/>
                  </a:solidFill>
                  <a:latin typeface="Aptos ExtraBold" panose="020B0004020202020204" pitchFamily="34" charset="0"/>
                  <a:sym typeface="+mn-ea"/>
                </a:rPr>
                <a:t>Stacking is the most effective ensemble method.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9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A136-68C5-F209-AF6C-CB7A1408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40FB8-380C-EF5F-614E-6320FE5F58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D28D92-1B99-B6B7-D9D5-6CF071623BFA}"/>
              </a:ext>
            </a:extLst>
          </p:cNvPr>
          <p:cNvSpPr/>
          <p:nvPr/>
        </p:nvSpPr>
        <p:spPr>
          <a:xfrm>
            <a:off x="0" y="727523"/>
            <a:ext cx="12192000" cy="796550"/>
          </a:xfrm>
          <a:prstGeom prst="rect">
            <a:avLst/>
          </a:prstGeom>
          <a:solidFill>
            <a:srgbClr val="2D5CB2"/>
          </a:solidFill>
          <a:ln>
            <a:solidFill>
              <a:srgbClr val="2D5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53D91-5CB7-12B3-F618-F6DE56958934}"/>
              </a:ext>
            </a:extLst>
          </p:cNvPr>
          <p:cNvSpPr txBox="1"/>
          <p:nvPr/>
        </p:nvSpPr>
        <p:spPr>
          <a:xfrm>
            <a:off x="561109" y="802552"/>
            <a:ext cx="110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Black" panose="020B0004020202020204" pitchFamily="34" charset="0"/>
              </a:rPr>
              <a:t>Future Work</a:t>
            </a:r>
          </a:p>
        </p:txBody>
      </p:sp>
      <p:pic>
        <p:nvPicPr>
          <p:cNvPr id="7" name="Content Placeholder 8" descr="32-removebg-preview">
            <a:extLst>
              <a:ext uri="{FF2B5EF4-FFF2-40B4-BE49-F238E27FC236}">
                <a16:creationId xmlns:a16="http://schemas.microsoft.com/office/drawing/2014/main" id="{269FCC18-C461-258B-B4C8-9370C8A0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48" r="13983"/>
          <a:stretch>
            <a:fillRect/>
          </a:stretch>
        </p:blipFill>
        <p:spPr>
          <a:xfrm>
            <a:off x="689146" y="1963666"/>
            <a:ext cx="3966831" cy="4605351"/>
          </a:xfrm>
          <a:prstGeom prst="rect">
            <a:avLst/>
          </a:prstGeom>
        </p:spPr>
      </p:pic>
      <p:sp>
        <p:nvSpPr>
          <p:cNvPr id="6" name="Text Box 1">
            <a:extLst>
              <a:ext uri="{FF2B5EF4-FFF2-40B4-BE49-F238E27FC236}">
                <a16:creationId xmlns:a16="http://schemas.microsoft.com/office/drawing/2014/main" id="{F0E800A3-7B52-44EF-67A4-E6A76D986646}"/>
              </a:ext>
            </a:extLst>
          </p:cNvPr>
          <p:cNvSpPr txBox="1"/>
          <p:nvPr/>
        </p:nvSpPr>
        <p:spPr>
          <a:xfrm>
            <a:off x="5238488" y="3550515"/>
            <a:ext cx="61577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latin typeface="Aptos Black" panose="020B00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ym typeface="+mn-ea"/>
              </a:rPr>
              <a:t>“Advanced fusion strategies such as attention-based mechanisms, transformer-based architectures, or hybrid integration techniques”</a:t>
            </a:r>
            <a:endParaRPr lang="en-US" sz="2800" dirty="0"/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CE0E2F3E-6150-A3E8-0EE5-C3A5DE79754B}"/>
              </a:ext>
            </a:extLst>
          </p:cNvPr>
          <p:cNvSpPr txBox="1"/>
          <p:nvPr/>
        </p:nvSpPr>
        <p:spPr>
          <a:xfrm>
            <a:off x="5345123" y="2101452"/>
            <a:ext cx="5944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Aptos Black" panose="020B0004020202020204" pitchFamily="34" charset="0"/>
                <a:sym typeface="+mn-ea"/>
              </a:rPr>
              <a:t>“More diverse datasets with natural emotional expressions”</a:t>
            </a:r>
            <a:endParaRPr lang="en-US" sz="2800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447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F3E8-64B8-563D-6367-91E6BB14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A6D71-1696-FFB2-A304-8D4207E493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BCB613-8EB7-8F81-2B30-F5B15BAE5FB9}"/>
              </a:ext>
            </a:extLst>
          </p:cNvPr>
          <p:cNvSpPr txBox="1"/>
          <p:nvPr/>
        </p:nvSpPr>
        <p:spPr>
          <a:xfrm>
            <a:off x="561109" y="2921168"/>
            <a:ext cx="11069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ptos Black" panose="020B0004020202020204" pitchFamily="34" charset="0"/>
              </a:rPr>
              <a:t>Thank You!</a:t>
            </a:r>
            <a:endParaRPr lang="en-SG" sz="60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21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A859E04EECDB429E5C9532C0BEF25C" ma:contentTypeVersion="4" ma:contentTypeDescription="Create a new document." ma:contentTypeScope="" ma:versionID="4d96d86baddeb3a7cfbb1bd673890f38">
  <xsd:schema xmlns:xsd="http://www.w3.org/2001/XMLSchema" xmlns:xs="http://www.w3.org/2001/XMLSchema" xmlns:p="http://schemas.microsoft.com/office/2006/metadata/properties" xmlns:ns3="9dbf20f1-6963-419f-809b-f4f23257b6e9" targetNamespace="http://schemas.microsoft.com/office/2006/metadata/properties" ma:root="true" ma:fieldsID="b37f9364aa52fe4e3f4bbf472ce5cbda" ns3:_="">
    <xsd:import namespace="9dbf20f1-6963-419f-809b-f4f23257b6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f20f1-6963-419f-809b-f4f23257b6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1A9624-095E-4923-8BE7-152C9ABBADE2}">
  <ds:schemaRefs/>
</ds:datastoreItem>
</file>

<file path=customXml/itemProps2.xml><?xml version="1.0" encoding="utf-8"?>
<ds:datastoreItem xmlns:ds="http://schemas.openxmlformats.org/officeDocument/2006/customXml" ds:itemID="{6D4CD5B8-5791-40E0-AACA-2266493D4041}">
  <ds:schemaRefs/>
</ds:datastoreItem>
</file>

<file path=customXml/itemProps3.xml><?xml version="1.0" encoding="utf-8"?>
<ds:datastoreItem xmlns:ds="http://schemas.openxmlformats.org/officeDocument/2006/customXml" ds:itemID="{35785EDF-7E1A-4164-BE77-37F8032C177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5670</TotalTime>
  <Words>2138</Words>
  <Application>Microsoft Office PowerPoint</Application>
  <PresentationFormat>Widescreen</PresentationFormat>
  <Paragraphs>627</Paragraphs>
  <Slides>33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 Black</vt:lpstr>
      <vt:lpstr>Aptos ExtraBold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 CHUK FONG</dc:creator>
  <cp:lastModifiedBy>HO CHUK FONG</cp:lastModifiedBy>
  <cp:revision>429</cp:revision>
  <dcterms:created xsi:type="dcterms:W3CDTF">2024-01-28T23:47:00Z</dcterms:created>
  <dcterms:modified xsi:type="dcterms:W3CDTF">2026-02-05T03:28:34Z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0x010100DBA859E04EECDB429E5C9532C0BEF25C</vt:lpwstr>
  </property>
  <property fmtid="{D5CDD505-2E9C-101B-9397-08002B2CF9AE}" pid="3" name="ICV">
    <vt:lpwstr>724397B1E191439086BF52DF2F0C500E_12</vt:lpwstr>
  </property>
  <property fmtid="{D5CDD505-2E9C-101B-9397-08002B2CF9AE}" pid="4" name="KSOProductBuildVer">
    <vt:lpwstr>1033-12.2.0.13431</vt:lpwstr>
  </property>
</Properties>
</file>